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Garet Ultra-Bold" charset="1" panose="00000000000000000000"/>
      <p:regular r:id="rId20"/>
    </p:embeddedFont>
    <p:embeddedFont>
      <p:font typeface="Garet" charset="1" panose="00000000000000000000"/>
      <p:regular r:id="rId21"/>
    </p:embeddedFont>
    <p:embeddedFont>
      <p:font typeface="Garet Bold" charset="1" panose="0000000000000000000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png" Type="http://schemas.openxmlformats.org/officeDocument/2006/relationships/image"/><Relationship Id="rId6" Target="../media/image5.svg" Type="http://schemas.openxmlformats.org/officeDocument/2006/relationships/image"/><Relationship Id="rId7" Target="../media/image6.pn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7.png" Type="http://schemas.openxmlformats.org/officeDocument/2006/relationships/image"/><Relationship Id="rId7" Target="../media/image8.png" Type="http://schemas.openxmlformats.org/officeDocument/2006/relationships/image"/><Relationship Id="rId8" Target="../media/image9.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14.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0.png" Type="http://schemas.openxmlformats.org/officeDocument/2006/relationships/image"/><Relationship Id="rId7" Target="../media/image11.png" Type="http://schemas.openxmlformats.org/officeDocument/2006/relationships/image"/><Relationship Id="rId8" Target="../media/image12.png" Type="http://schemas.openxmlformats.org/officeDocument/2006/relationships/image"/><Relationship Id="rId9" Target="../media/image13.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5.png" Type="http://schemas.openxmlformats.org/officeDocument/2006/relationships/image"/><Relationship Id="rId7" Target="../media/image16.png" Type="http://schemas.openxmlformats.org/officeDocument/2006/relationships/image"/><Relationship Id="rId8" Target="../media/image17.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2.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18.png" Type="http://schemas.openxmlformats.org/officeDocument/2006/relationships/image"/><Relationship Id="rId7" Target="../media/image19.png" Type="http://schemas.openxmlformats.org/officeDocument/2006/relationships/image"/><Relationship Id="rId8" Target="../media/image20.png" Type="http://schemas.openxmlformats.org/officeDocument/2006/relationships/image"/><Relationship Id="rId9" Target="../media/image21.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7.png" Type="http://schemas.openxmlformats.org/officeDocument/2006/relationships/image"/><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 Id="rId6" Target="../media/image23.png" Type="http://schemas.openxmlformats.org/officeDocument/2006/relationships/image"/><Relationship Id="rId7" Target="../media/image24.png" Type="http://schemas.openxmlformats.org/officeDocument/2006/relationships/image"/><Relationship Id="rId8" Target="../media/image25.png" Type="http://schemas.openxmlformats.org/officeDocument/2006/relationships/image"/><Relationship Id="rId9" Target="../media/image26.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8.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4.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26.pn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 Id="rId8" Target="../media/image32.png" Type="http://schemas.openxmlformats.org/officeDocument/2006/relationships/image"/><Relationship Id="rId9" Target="../media/image33.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4.png" Type="http://schemas.openxmlformats.org/officeDocument/2006/relationships/image"/><Relationship Id="rId5" Target="../media/image35.png" Type="http://schemas.openxmlformats.org/officeDocument/2006/relationships/image"/><Relationship Id="rId6" Target="../media/image36.png" Type="http://schemas.openxmlformats.org/officeDocument/2006/relationships/image"/><Relationship Id="rId7" Target="../media/image37.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38.png" Type="http://schemas.openxmlformats.org/officeDocument/2006/relationships/image"/><Relationship Id="rId5" Target="../media/image39.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2.png" Type="http://schemas.openxmlformats.org/officeDocument/2006/relationships/image"/><Relationship Id="rId3" Target="../media/image3.svg" Type="http://schemas.openxmlformats.org/officeDocument/2006/relationships/image"/><Relationship Id="rId4" Target="../media/image4.png" Type="http://schemas.openxmlformats.org/officeDocument/2006/relationships/image"/><Relationship Id="rId5" Target="../media/image5.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2216105">
            <a:off x="-5904760" y="-1414068"/>
            <a:ext cx="11809520" cy="21344736"/>
            <a:chOff x="0" y="0"/>
            <a:chExt cx="3110326" cy="5621659"/>
          </a:xfrm>
        </p:grpSpPr>
        <p:sp>
          <p:nvSpPr>
            <p:cNvPr name="Freeform 3" id="3"/>
            <p:cNvSpPr/>
            <p:nvPr/>
          </p:nvSpPr>
          <p:spPr>
            <a:xfrm flipH="false" flipV="false" rot="0">
              <a:off x="0" y="0"/>
              <a:ext cx="3110326" cy="5621659"/>
            </a:xfrm>
            <a:custGeom>
              <a:avLst/>
              <a:gdLst/>
              <a:ahLst/>
              <a:cxnLst/>
              <a:rect r="r" b="b" t="t" l="l"/>
              <a:pathLst>
                <a:path h="5621659" w="3110326">
                  <a:moveTo>
                    <a:pt x="0" y="0"/>
                  </a:moveTo>
                  <a:lnTo>
                    <a:pt x="3110326" y="0"/>
                  </a:lnTo>
                  <a:lnTo>
                    <a:pt x="3110326" y="5621659"/>
                  </a:lnTo>
                  <a:lnTo>
                    <a:pt x="0" y="5621659"/>
                  </a:lnTo>
                  <a:close/>
                </a:path>
              </a:pathLst>
            </a:custGeom>
            <a:solidFill>
              <a:srgbClr val="00679C"/>
            </a:solidFill>
          </p:spPr>
        </p:sp>
        <p:sp>
          <p:nvSpPr>
            <p:cNvPr name="TextBox 4" id="4"/>
            <p:cNvSpPr txBox="true"/>
            <p:nvPr/>
          </p:nvSpPr>
          <p:spPr>
            <a:xfrm>
              <a:off x="0" y="-38100"/>
              <a:ext cx="3110326" cy="5659759"/>
            </a:xfrm>
            <a:prstGeom prst="rect">
              <a:avLst/>
            </a:prstGeom>
          </p:spPr>
          <p:txBody>
            <a:bodyPr anchor="ctr" rtlCol="false" tIns="50800" lIns="50800" bIns="50800" rIns="50800"/>
            <a:lstStyle/>
            <a:p>
              <a:pPr algn="ctr">
                <a:lnSpc>
                  <a:spcPts val="2659"/>
                </a:lnSpc>
                <a:spcBef>
                  <a:spcPct val="0"/>
                </a:spcBef>
              </a:pPr>
            </a:p>
          </p:txBody>
        </p:sp>
      </p:grpSp>
      <p:grpSp>
        <p:nvGrpSpPr>
          <p:cNvPr name="Group 5" id="5"/>
          <p:cNvGrpSpPr/>
          <p:nvPr/>
        </p:nvGrpSpPr>
        <p:grpSpPr>
          <a:xfrm rot="0">
            <a:off x="15703820" y="-3438123"/>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8" id="8"/>
          <p:cNvGrpSpPr/>
          <p:nvPr/>
        </p:nvGrpSpPr>
        <p:grpSpPr>
          <a:xfrm rot="0">
            <a:off x="-3625653" y="7276745"/>
            <a:ext cx="6020510" cy="6020510"/>
            <a:chOff x="0" y="0"/>
            <a:chExt cx="812800" cy="812800"/>
          </a:xfrm>
        </p:grpSpPr>
        <p:sp>
          <p:nvSpPr>
            <p:cNvPr name="Freeform 9" id="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sp>
        <p:sp>
          <p:nvSpPr>
            <p:cNvPr name="TextBox 10" id="10"/>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11" id="11"/>
          <p:cNvGrpSpPr/>
          <p:nvPr/>
        </p:nvGrpSpPr>
        <p:grpSpPr>
          <a:xfrm rot="-5400000">
            <a:off x="8374801" y="-314019"/>
            <a:ext cx="1395396" cy="3086100"/>
            <a:chOff x="0" y="0"/>
            <a:chExt cx="367512" cy="812800"/>
          </a:xfrm>
        </p:grpSpPr>
        <p:sp>
          <p:nvSpPr>
            <p:cNvPr name="Freeform 12" id="12"/>
            <p:cNvSpPr/>
            <p:nvPr/>
          </p:nvSpPr>
          <p:spPr>
            <a:xfrm flipH="false" flipV="false" rot="0">
              <a:off x="0" y="0"/>
              <a:ext cx="367512" cy="812800"/>
            </a:xfrm>
            <a:custGeom>
              <a:avLst/>
              <a:gdLst/>
              <a:ahLst/>
              <a:cxnLst/>
              <a:rect r="r" b="b" t="t" l="l"/>
              <a:pathLst>
                <a:path h="812800" w="367512">
                  <a:moveTo>
                    <a:pt x="367512" y="0"/>
                  </a:moveTo>
                  <a:lnTo>
                    <a:pt x="367512" y="698500"/>
                  </a:lnTo>
                  <a:lnTo>
                    <a:pt x="183756" y="812800"/>
                  </a:lnTo>
                  <a:lnTo>
                    <a:pt x="0" y="698500"/>
                  </a:lnTo>
                  <a:lnTo>
                    <a:pt x="0" y="0"/>
                  </a:lnTo>
                  <a:lnTo>
                    <a:pt x="367512" y="0"/>
                  </a:lnTo>
                  <a:close/>
                </a:path>
              </a:pathLst>
            </a:custGeom>
            <a:solidFill>
              <a:srgbClr val="00679C"/>
            </a:solidFill>
          </p:spPr>
        </p:sp>
        <p:sp>
          <p:nvSpPr>
            <p:cNvPr name="TextBox 13" id="13"/>
            <p:cNvSpPr txBox="true"/>
            <p:nvPr/>
          </p:nvSpPr>
          <p:spPr>
            <a:xfrm>
              <a:off x="0" y="-38100"/>
              <a:ext cx="367512" cy="736600"/>
            </a:xfrm>
            <a:prstGeom prst="rect">
              <a:avLst/>
            </a:prstGeom>
          </p:spPr>
          <p:txBody>
            <a:bodyPr anchor="ctr" rtlCol="false" tIns="50800" lIns="50800" bIns="50800" rIns="50800"/>
            <a:lstStyle/>
            <a:p>
              <a:pPr algn="ctr">
                <a:lnSpc>
                  <a:spcPts val="2659"/>
                </a:lnSpc>
              </a:pPr>
            </a:p>
          </p:txBody>
        </p:sp>
      </p:grpSp>
      <p:grpSp>
        <p:nvGrpSpPr>
          <p:cNvPr name="Group 14" id="14"/>
          <p:cNvGrpSpPr/>
          <p:nvPr/>
        </p:nvGrpSpPr>
        <p:grpSpPr>
          <a:xfrm rot="0">
            <a:off x="-144887" y="1427279"/>
            <a:ext cx="9827246" cy="8120795"/>
            <a:chOff x="0" y="0"/>
            <a:chExt cx="1113877" cy="920458"/>
          </a:xfrm>
        </p:grpSpPr>
        <p:sp>
          <p:nvSpPr>
            <p:cNvPr name="Freeform 15" id="15"/>
            <p:cNvSpPr/>
            <p:nvPr/>
          </p:nvSpPr>
          <p:spPr>
            <a:xfrm flipH="false" flipV="false" rot="0">
              <a:off x="0" y="0"/>
              <a:ext cx="1113877" cy="920458"/>
            </a:xfrm>
            <a:custGeom>
              <a:avLst/>
              <a:gdLst/>
              <a:ahLst/>
              <a:cxnLst/>
              <a:rect r="r" b="b" t="t" l="l"/>
              <a:pathLst>
                <a:path h="920458" w="1113877">
                  <a:moveTo>
                    <a:pt x="556938" y="0"/>
                  </a:moveTo>
                  <a:cubicBezTo>
                    <a:pt x="249350" y="0"/>
                    <a:pt x="0" y="206051"/>
                    <a:pt x="0" y="460229"/>
                  </a:cubicBezTo>
                  <a:cubicBezTo>
                    <a:pt x="0" y="714406"/>
                    <a:pt x="249350" y="920458"/>
                    <a:pt x="556938" y="920458"/>
                  </a:cubicBezTo>
                  <a:cubicBezTo>
                    <a:pt x="864527" y="920458"/>
                    <a:pt x="1113877" y="714406"/>
                    <a:pt x="1113877" y="460229"/>
                  </a:cubicBezTo>
                  <a:cubicBezTo>
                    <a:pt x="1113877" y="206051"/>
                    <a:pt x="864527" y="0"/>
                    <a:pt x="556938" y="0"/>
                  </a:cubicBezTo>
                  <a:close/>
                </a:path>
              </a:pathLst>
            </a:custGeom>
            <a:blipFill>
              <a:blip r:embed="rId2"/>
              <a:stretch>
                <a:fillRect l="-12089" t="0" r="-12089" b="0"/>
              </a:stretch>
            </a:blipFill>
          </p:spPr>
        </p:sp>
      </p:grpSp>
      <p:sp>
        <p:nvSpPr>
          <p:cNvPr name="Freeform 16" id="16"/>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18" id="18"/>
          <p:cNvGrpSpPr/>
          <p:nvPr/>
        </p:nvGrpSpPr>
        <p:grpSpPr>
          <a:xfrm rot="0">
            <a:off x="2232714" y="515234"/>
            <a:ext cx="7931776" cy="1395396"/>
            <a:chOff x="0" y="0"/>
            <a:chExt cx="2089027" cy="367512"/>
          </a:xfrm>
        </p:grpSpPr>
        <p:sp>
          <p:nvSpPr>
            <p:cNvPr name="Freeform 19" id="19"/>
            <p:cNvSpPr/>
            <p:nvPr/>
          </p:nvSpPr>
          <p:spPr>
            <a:xfrm flipH="false" flipV="false" rot="0">
              <a:off x="0" y="0"/>
              <a:ext cx="2089028" cy="367512"/>
            </a:xfrm>
            <a:custGeom>
              <a:avLst/>
              <a:gdLst/>
              <a:ahLst/>
              <a:cxnLst/>
              <a:rect r="r" b="b" t="t" l="l"/>
              <a:pathLst>
                <a:path h="367512" w="2089028">
                  <a:moveTo>
                    <a:pt x="1885828" y="0"/>
                  </a:moveTo>
                  <a:cubicBezTo>
                    <a:pt x="1998052" y="0"/>
                    <a:pt x="2089028" y="82270"/>
                    <a:pt x="2089028" y="183756"/>
                  </a:cubicBezTo>
                  <a:cubicBezTo>
                    <a:pt x="2089028" y="285241"/>
                    <a:pt x="1998052" y="367512"/>
                    <a:pt x="1885828" y="367512"/>
                  </a:cubicBezTo>
                  <a:lnTo>
                    <a:pt x="203200" y="367512"/>
                  </a:lnTo>
                  <a:cubicBezTo>
                    <a:pt x="90976" y="367512"/>
                    <a:pt x="0" y="285241"/>
                    <a:pt x="0" y="183756"/>
                  </a:cubicBezTo>
                  <a:cubicBezTo>
                    <a:pt x="0" y="82270"/>
                    <a:pt x="90976" y="0"/>
                    <a:pt x="203200" y="0"/>
                  </a:cubicBezTo>
                  <a:close/>
                </a:path>
              </a:pathLst>
            </a:custGeom>
            <a:solidFill>
              <a:srgbClr val="00679C"/>
            </a:solidFill>
          </p:spPr>
        </p:sp>
        <p:sp>
          <p:nvSpPr>
            <p:cNvPr name="TextBox 20" id="20"/>
            <p:cNvSpPr txBox="true"/>
            <p:nvPr/>
          </p:nvSpPr>
          <p:spPr>
            <a:xfrm>
              <a:off x="0" y="-38100"/>
              <a:ext cx="2089027" cy="405612"/>
            </a:xfrm>
            <a:prstGeom prst="rect">
              <a:avLst/>
            </a:prstGeom>
          </p:spPr>
          <p:txBody>
            <a:bodyPr anchor="ctr" rtlCol="false" tIns="50800" lIns="50800" bIns="50800" rIns="50800"/>
            <a:lstStyle/>
            <a:p>
              <a:pPr algn="ctr">
                <a:lnSpc>
                  <a:spcPts val="2659"/>
                </a:lnSpc>
              </a:pPr>
            </a:p>
          </p:txBody>
        </p:sp>
      </p:grpSp>
      <p:grpSp>
        <p:nvGrpSpPr>
          <p:cNvPr name="Group 21" id="21"/>
          <p:cNvGrpSpPr/>
          <p:nvPr/>
        </p:nvGrpSpPr>
        <p:grpSpPr>
          <a:xfrm rot="0">
            <a:off x="1765296" y="515234"/>
            <a:ext cx="9174426" cy="1652973"/>
            <a:chOff x="0" y="0"/>
            <a:chExt cx="1421359" cy="256089"/>
          </a:xfrm>
        </p:grpSpPr>
        <p:sp>
          <p:nvSpPr>
            <p:cNvPr name="Freeform 22" id="22"/>
            <p:cNvSpPr/>
            <p:nvPr/>
          </p:nvSpPr>
          <p:spPr>
            <a:xfrm flipH="false" flipV="false" rot="0">
              <a:off x="0" y="0"/>
              <a:ext cx="1421359" cy="256089"/>
            </a:xfrm>
            <a:custGeom>
              <a:avLst/>
              <a:gdLst/>
              <a:ahLst/>
              <a:cxnLst/>
              <a:rect r="r" b="b" t="t" l="l"/>
              <a:pathLst>
                <a:path h="256089" w="1421359">
                  <a:moveTo>
                    <a:pt x="0" y="0"/>
                  </a:moveTo>
                  <a:lnTo>
                    <a:pt x="1421359" y="0"/>
                  </a:lnTo>
                  <a:lnTo>
                    <a:pt x="1421359" y="256089"/>
                  </a:lnTo>
                  <a:lnTo>
                    <a:pt x="0" y="256089"/>
                  </a:lnTo>
                  <a:close/>
                </a:path>
              </a:pathLst>
            </a:custGeom>
            <a:blipFill>
              <a:blip r:embed="rId7"/>
              <a:stretch>
                <a:fillRect l="0" t="-9827" r="0" b="-9827"/>
              </a:stretch>
            </a:blipFill>
          </p:spPr>
        </p:sp>
      </p:grpSp>
      <p:sp>
        <p:nvSpPr>
          <p:cNvPr name="TextBox 23" id="23"/>
          <p:cNvSpPr txBox="true"/>
          <p:nvPr/>
        </p:nvSpPr>
        <p:spPr>
          <a:xfrm rot="0">
            <a:off x="8641452" y="3955733"/>
            <a:ext cx="8617848" cy="2451735"/>
          </a:xfrm>
          <a:prstGeom prst="rect">
            <a:avLst/>
          </a:prstGeom>
        </p:spPr>
        <p:txBody>
          <a:bodyPr anchor="t" rtlCol="false" tIns="0" lIns="0" bIns="0" rIns="0">
            <a:spAutoFit/>
          </a:bodyPr>
          <a:lstStyle/>
          <a:p>
            <a:pPr algn="l">
              <a:lnSpc>
                <a:spcPts val="6419"/>
              </a:lnSpc>
            </a:pPr>
            <a:r>
              <a:rPr lang="en-US" sz="5999" spc="377" b="true">
                <a:solidFill>
                  <a:srgbClr val="001E3A"/>
                </a:solidFill>
                <a:latin typeface="Garet Ultra-Bold"/>
                <a:ea typeface="Garet Ultra-Bold"/>
                <a:cs typeface="Garet Ultra-Bold"/>
                <a:sym typeface="Garet Ultra-Bold"/>
              </a:rPr>
              <a:t>HỆ THỐNG BÁN VĂN PHÒNG PHẨM ONLINE</a:t>
            </a:r>
          </a:p>
        </p:txBody>
      </p:sp>
      <p:sp>
        <p:nvSpPr>
          <p:cNvPr name="TextBox 24" id="24"/>
          <p:cNvSpPr txBox="true"/>
          <p:nvPr/>
        </p:nvSpPr>
        <p:spPr>
          <a:xfrm rot="0">
            <a:off x="13172045" y="6350317"/>
            <a:ext cx="7055297" cy="3498460"/>
          </a:xfrm>
          <a:prstGeom prst="rect">
            <a:avLst/>
          </a:prstGeom>
        </p:spPr>
        <p:txBody>
          <a:bodyPr anchor="t" rtlCol="false" tIns="0" lIns="0" bIns="0" rIns="0">
            <a:spAutoFit/>
          </a:bodyPr>
          <a:lstStyle/>
          <a:p>
            <a:pPr algn="l">
              <a:lnSpc>
                <a:spcPts val="3521"/>
              </a:lnSpc>
            </a:pPr>
            <a:r>
              <a:rPr lang="en-US" sz="2515">
                <a:solidFill>
                  <a:srgbClr val="001E3A"/>
                </a:solidFill>
                <a:latin typeface="Garet"/>
                <a:ea typeface="Garet"/>
                <a:cs typeface="Garet"/>
                <a:sym typeface="Garet"/>
              </a:rPr>
              <a:t>SV thực hiện:</a:t>
            </a:r>
          </a:p>
          <a:p>
            <a:pPr algn="l" marL="543062" indent="-271531" lvl="1">
              <a:lnSpc>
                <a:spcPts val="3521"/>
              </a:lnSpc>
              <a:buFont typeface="Arial"/>
              <a:buChar char="•"/>
            </a:pPr>
            <a:r>
              <a:rPr lang="en-US" sz="2515">
                <a:solidFill>
                  <a:srgbClr val="001E3A"/>
                </a:solidFill>
                <a:latin typeface="Garet"/>
                <a:ea typeface="Garet"/>
                <a:cs typeface="Garet"/>
                <a:sym typeface="Garet"/>
              </a:rPr>
              <a:t>Nguyễn Đình Nhật Huy </a:t>
            </a:r>
          </a:p>
          <a:p>
            <a:pPr algn="l">
              <a:lnSpc>
                <a:spcPts val="3521"/>
              </a:lnSpc>
            </a:pPr>
            <a:r>
              <a:rPr lang="en-US" sz="2515">
                <a:solidFill>
                  <a:srgbClr val="001E3A"/>
                </a:solidFill>
                <a:latin typeface="Garet"/>
                <a:ea typeface="Garet"/>
                <a:cs typeface="Garet"/>
                <a:sym typeface="Garet"/>
              </a:rPr>
              <a:t>(110122223 – DA22TTB)</a:t>
            </a:r>
          </a:p>
          <a:p>
            <a:pPr algn="l" marL="543062" indent="-271531" lvl="1">
              <a:lnSpc>
                <a:spcPts val="3521"/>
              </a:lnSpc>
              <a:buFont typeface="Arial"/>
              <a:buChar char="•"/>
            </a:pPr>
            <a:r>
              <a:rPr lang="en-US" sz="2515">
                <a:solidFill>
                  <a:srgbClr val="001E3A"/>
                </a:solidFill>
                <a:latin typeface="Garet"/>
                <a:ea typeface="Garet"/>
                <a:cs typeface="Garet"/>
                <a:sym typeface="Garet"/>
              </a:rPr>
              <a:t>Hồ Hoàng Long</a:t>
            </a:r>
          </a:p>
          <a:p>
            <a:pPr algn="l">
              <a:lnSpc>
                <a:spcPts val="3521"/>
              </a:lnSpc>
            </a:pPr>
            <a:r>
              <a:rPr lang="en-US" sz="2515">
                <a:solidFill>
                  <a:srgbClr val="001E3A"/>
                </a:solidFill>
                <a:latin typeface="Garet"/>
                <a:ea typeface="Garet"/>
                <a:cs typeface="Garet"/>
                <a:sym typeface="Garet"/>
              </a:rPr>
              <a:t>(110122107 – DA22TTB)</a:t>
            </a:r>
          </a:p>
          <a:p>
            <a:pPr algn="l" marL="543062" indent="-271531" lvl="1">
              <a:lnSpc>
                <a:spcPts val="3521"/>
              </a:lnSpc>
              <a:buFont typeface="Arial"/>
              <a:buChar char="•"/>
            </a:pPr>
            <a:r>
              <a:rPr lang="en-US" sz="2515">
                <a:solidFill>
                  <a:srgbClr val="001E3A"/>
                </a:solidFill>
                <a:latin typeface="Garet"/>
                <a:ea typeface="Garet"/>
                <a:cs typeface="Garet"/>
                <a:sym typeface="Garet"/>
              </a:rPr>
              <a:t>Phan Đăng Khoa </a:t>
            </a:r>
          </a:p>
          <a:p>
            <a:pPr algn="l">
              <a:lnSpc>
                <a:spcPts val="3521"/>
              </a:lnSpc>
            </a:pPr>
            <a:r>
              <a:rPr lang="en-US" sz="2515">
                <a:solidFill>
                  <a:srgbClr val="001E3A"/>
                </a:solidFill>
                <a:latin typeface="Garet"/>
                <a:ea typeface="Garet"/>
                <a:cs typeface="Garet"/>
                <a:sym typeface="Garet"/>
              </a:rPr>
              <a:t>(110122227</a:t>
            </a:r>
            <a:r>
              <a:rPr lang="en-US" sz="2515">
                <a:solidFill>
                  <a:srgbClr val="001E3A"/>
                </a:solidFill>
                <a:latin typeface="Garet"/>
                <a:ea typeface="Garet"/>
                <a:cs typeface="Garet"/>
                <a:sym typeface="Garet"/>
              </a:rPr>
              <a:t> – DA22TTB)</a:t>
            </a:r>
          </a:p>
          <a:p>
            <a:pPr algn="l">
              <a:lnSpc>
                <a:spcPts val="3521"/>
              </a:lnSpc>
            </a:pPr>
          </a:p>
        </p:txBody>
      </p:sp>
      <p:sp>
        <p:nvSpPr>
          <p:cNvPr name="TextBox 25" id="25"/>
          <p:cNvSpPr txBox="true"/>
          <p:nvPr/>
        </p:nvSpPr>
        <p:spPr>
          <a:xfrm rot="0">
            <a:off x="10442425" y="2142807"/>
            <a:ext cx="11039629" cy="1736725"/>
          </a:xfrm>
          <a:prstGeom prst="rect">
            <a:avLst/>
          </a:prstGeom>
        </p:spPr>
        <p:txBody>
          <a:bodyPr anchor="t" rtlCol="false" tIns="0" lIns="0" bIns="0" rIns="0">
            <a:spAutoFit/>
          </a:bodyPr>
          <a:lstStyle/>
          <a:p>
            <a:pPr algn="l">
              <a:lnSpc>
                <a:spcPts val="3499"/>
              </a:lnSpc>
            </a:pPr>
            <a:r>
              <a:rPr lang="en-US" sz="2499">
                <a:solidFill>
                  <a:srgbClr val="001E3A"/>
                </a:solidFill>
                <a:latin typeface="Garet"/>
                <a:ea typeface="Garet"/>
                <a:cs typeface="Garet"/>
                <a:sym typeface="Garet"/>
              </a:rPr>
              <a:t>Báo cáo đồ án môn học: </a:t>
            </a:r>
          </a:p>
          <a:p>
            <a:pPr algn="l">
              <a:lnSpc>
                <a:spcPts val="3499"/>
              </a:lnSpc>
            </a:pPr>
            <a:r>
              <a:rPr lang="en-US" sz="2499">
                <a:solidFill>
                  <a:srgbClr val="001E3A"/>
                </a:solidFill>
                <a:latin typeface="Garet"/>
                <a:ea typeface="Garet"/>
                <a:cs typeface="Garet"/>
                <a:sym typeface="Garet"/>
              </a:rPr>
              <a:t>Phát triển ứng dụng Web với mã nguồn mở</a:t>
            </a:r>
          </a:p>
          <a:p>
            <a:pPr algn="l">
              <a:lnSpc>
                <a:spcPts val="3499"/>
              </a:lnSpc>
            </a:pPr>
            <a:r>
              <a:rPr lang="en-US" sz="2499">
                <a:solidFill>
                  <a:srgbClr val="001E3A"/>
                </a:solidFill>
                <a:latin typeface="Garet"/>
                <a:ea typeface="Garet"/>
                <a:cs typeface="Garet"/>
                <a:sym typeface="Garet"/>
              </a:rPr>
              <a:t>GVHD: Ths.Phạm Thị Trúc Mai</a:t>
            </a:r>
          </a:p>
          <a:p>
            <a:pPr algn="l">
              <a:lnSpc>
                <a:spcPts val="3499"/>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1322043" y="1300142"/>
            <a:ext cx="14168470" cy="1423746"/>
          </a:xfrm>
          <a:prstGeom prst="rect">
            <a:avLst/>
          </a:prstGeom>
        </p:spPr>
        <p:txBody>
          <a:bodyPr anchor="t" rtlCol="false" tIns="0" lIns="0" bIns="0" rIns="0">
            <a:spAutoFit/>
          </a:bodyPr>
          <a:lstStyle/>
          <a:p>
            <a:pPr algn="l">
              <a:lnSpc>
                <a:spcPts val="10174"/>
              </a:lnSpc>
            </a:pPr>
            <a:r>
              <a:rPr lang="en-US" sz="12258" b="true">
                <a:solidFill>
                  <a:srgbClr val="001E3A"/>
                </a:solidFill>
                <a:latin typeface="Garet Ultra-Bold"/>
                <a:ea typeface="Garet Ultra-Bold"/>
                <a:cs typeface="Garet Ultra-Bold"/>
                <a:sym typeface="Garet Ultra-Bold"/>
              </a:rPr>
              <a:t>Giới thiệu</a:t>
            </a:r>
          </a:p>
        </p:txBody>
      </p:sp>
      <p:sp>
        <p:nvSpPr>
          <p:cNvPr name="TextBox 11" id="11"/>
          <p:cNvSpPr txBox="true"/>
          <p:nvPr/>
        </p:nvSpPr>
        <p:spPr>
          <a:xfrm rot="0">
            <a:off x="2059765" y="3437056"/>
            <a:ext cx="14168470" cy="4443340"/>
          </a:xfrm>
          <a:prstGeom prst="rect">
            <a:avLst/>
          </a:prstGeom>
        </p:spPr>
        <p:txBody>
          <a:bodyPr anchor="t" rtlCol="false" tIns="0" lIns="0" bIns="0" rIns="0">
            <a:spAutoFit/>
          </a:bodyPr>
          <a:lstStyle/>
          <a:p>
            <a:pPr algn="l">
              <a:lnSpc>
                <a:spcPts val="3941"/>
              </a:lnSpc>
            </a:pPr>
            <a:r>
              <a:rPr lang="en-US" sz="2815">
                <a:solidFill>
                  <a:srgbClr val="001E3A"/>
                </a:solidFill>
                <a:latin typeface="Garet"/>
                <a:ea typeface="Garet"/>
                <a:cs typeface="Garet"/>
                <a:sym typeface="Garet"/>
              </a:rPr>
              <a:t>Trong bối cảnh thương mại điện tử phát triển mạnh mẽ, việc kinh doanh văn phòng phẩm theo phương thức truyền thống bộc lộ nhiều hạn chế trong quản lý và tiếp cận khách hàng.</a:t>
            </a:r>
          </a:p>
          <a:p>
            <a:pPr algn="l">
              <a:lnSpc>
                <a:spcPts val="3941"/>
              </a:lnSpc>
            </a:pPr>
          </a:p>
          <a:p>
            <a:pPr algn="l">
              <a:lnSpc>
                <a:spcPts val="3941"/>
              </a:lnSpc>
            </a:pPr>
            <a:r>
              <a:rPr lang="en-US" sz="2815">
                <a:solidFill>
                  <a:srgbClr val="001E3A"/>
                </a:solidFill>
                <a:latin typeface="Garet"/>
                <a:ea typeface="Garet"/>
                <a:cs typeface="Garet"/>
                <a:sym typeface="Garet"/>
              </a:rPr>
              <a:t>Đề tài “Hệ thống bán văn phòng phẩm online” được thực hiện nhằm xây dựng một nền tảng bán hàng trực tuyến giúp khách hàng mua sắm thuận tiện, đồng thời hỗ trợ doanh nghiệp quản lý sản phẩm, đơn hàng và tồn kho một cách hiệu quả.</a:t>
            </a:r>
          </a:p>
          <a:p>
            <a:pPr algn="l">
              <a:lnSpc>
                <a:spcPts val="3941"/>
              </a:lnSpc>
            </a:pPr>
          </a:p>
        </p:txBody>
      </p:sp>
      <p:sp>
        <p:nvSpPr>
          <p:cNvPr name="TextBox 12" id="12"/>
          <p:cNvSpPr txBox="true"/>
          <p:nvPr/>
        </p:nvSpPr>
        <p:spPr>
          <a:xfrm rot="0">
            <a:off x="13691401" y="9363075"/>
            <a:ext cx="559219" cy="339215"/>
          </a:xfrm>
          <a:prstGeom prst="rect">
            <a:avLst/>
          </a:prstGeom>
        </p:spPr>
        <p:txBody>
          <a:bodyPr anchor="t" rtlCol="false" tIns="0" lIns="0" bIns="0" rIns="0">
            <a:spAutoFit/>
          </a:bodyPr>
          <a:lstStyle/>
          <a:p>
            <a:pPr algn="ctr">
              <a:lnSpc>
                <a:spcPts val="2440"/>
              </a:lnSpc>
            </a:pPr>
            <a:r>
              <a:rPr lang="en-US" sz="2940" b="true">
                <a:solidFill>
                  <a:srgbClr val="001E3A"/>
                </a:solidFill>
                <a:latin typeface="Garet Ultra-Bold"/>
                <a:ea typeface="Garet Ultra-Bold"/>
                <a:cs typeface="Garet Ultra-Bold"/>
                <a:sym typeface="Garet Ultra-Bold"/>
              </a:rPr>
              <a:t>1</a:t>
            </a:r>
          </a:p>
        </p:txBody>
      </p:sp>
      <p:sp>
        <p:nvSpPr>
          <p:cNvPr name="TextBox 13" id="13"/>
          <p:cNvSpPr txBox="true"/>
          <p:nvPr/>
        </p:nvSpPr>
        <p:spPr>
          <a:xfrm rot="0">
            <a:off x="14457899" y="9278166"/>
            <a:ext cx="3008680" cy="356632"/>
          </a:xfrm>
          <a:prstGeom prst="rect">
            <a:avLst/>
          </a:prstGeom>
        </p:spPr>
        <p:txBody>
          <a:bodyPr anchor="t" rtlCol="false" tIns="0" lIns="0" bIns="0" rIns="0">
            <a:spAutoFit/>
          </a:bodyPr>
          <a:lstStyle/>
          <a:p>
            <a:pPr algn="l">
              <a:lnSpc>
                <a:spcPts val="2918"/>
              </a:lnSpc>
            </a:pPr>
            <a:r>
              <a:rPr lang="en-US" sz="2084" b="true">
                <a:solidFill>
                  <a:srgbClr val="001E3A"/>
                </a:solidFill>
                <a:latin typeface="Garet Bold"/>
                <a:ea typeface="Garet Bold"/>
                <a:cs typeface="Garet Bold"/>
                <a:sym typeface="Garet Bold"/>
              </a:rPr>
              <a:t>VPP ONLINE</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7F2"/>
        </a:solidFill>
      </p:bgPr>
    </p:bg>
    <p:spTree>
      <p:nvGrpSpPr>
        <p:cNvPr id="1" name=""/>
        <p:cNvGrpSpPr/>
        <p:nvPr/>
      </p:nvGrpSpPr>
      <p:grpSpPr>
        <a:xfrm>
          <a:off x="0" y="0"/>
          <a:ext cx="0" cy="0"/>
          <a:chOff x="0" y="0"/>
          <a:chExt cx="0" cy="0"/>
        </a:xfrm>
      </p:grpSpPr>
      <p:grpSp>
        <p:nvGrpSpPr>
          <p:cNvPr name="Group 2" id="2"/>
          <p:cNvGrpSpPr/>
          <p:nvPr/>
        </p:nvGrpSpPr>
        <p:grpSpPr>
          <a:xfrm rot="0">
            <a:off x="15558932" y="-3734161"/>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947625" y="7834593"/>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1417642" y="1972963"/>
            <a:ext cx="4232159" cy="4199962"/>
            <a:chOff x="0" y="0"/>
            <a:chExt cx="655672" cy="650684"/>
          </a:xfrm>
        </p:grpSpPr>
        <p:sp>
          <p:nvSpPr>
            <p:cNvPr name="Freeform 11" id="11"/>
            <p:cNvSpPr/>
            <p:nvPr/>
          </p:nvSpPr>
          <p:spPr>
            <a:xfrm flipH="false" flipV="false" rot="0">
              <a:off x="0" y="0"/>
              <a:ext cx="655672" cy="650684"/>
            </a:xfrm>
            <a:custGeom>
              <a:avLst/>
              <a:gdLst/>
              <a:ahLst/>
              <a:cxnLst/>
              <a:rect r="r" b="b" t="t" l="l"/>
              <a:pathLst>
                <a:path h="650684" w="655672">
                  <a:moveTo>
                    <a:pt x="0" y="0"/>
                  </a:moveTo>
                  <a:lnTo>
                    <a:pt x="655672" y="0"/>
                  </a:lnTo>
                  <a:lnTo>
                    <a:pt x="655672" y="650684"/>
                  </a:lnTo>
                  <a:lnTo>
                    <a:pt x="0" y="650684"/>
                  </a:lnTo>
                  <a:close/>
                </a:path>
              </a:pathLst>
            </a:custGeom>
            <a:blipFill>
              <a:blip r:embed="rId6"/>
              <a:stretch>
                <a:fillRect l="-1273" t="0" r="-1273" b="0"/>
              </a:stretch>
            </a:blipFill>
          </p:spPr>
        </p:sp>
      </p:grpSp>
      <p:grpSp>
        <p:nvGrpSpPr>
          <p:cNvPr name="Group 12" id="12"/>
          <p:cNvGrpSpPr/>
          <p:nvPr/>
        </p:nvGrpSpPr>
        <p:grpSpPr>
          <a:xfrm rot="0">
            <a:off x="7029423" y="1972963"/>
            <a:ext cx="4232159" cy="4199962"/>
            <a:chOff x="0" y="0"/>
            <a:chExt cx="655672" cy="650684"/>
          </a:xfrm>
        </p:grpSpPr>
        <p:sp>
          <p:nvSpPr>
            <p:cNvPr name="Freeform 13" id="13"/>
            <p:cNvSpPr/>
            <p:nvPr/>
          </p:nvSpPr>
          <p:spPr>
            <a:xfrm flipH="false" flipV="false" rot="0">
              <a:off x="0" y="0"/>
              <a:ext cx="655672" cy="650684"/>
            </a:xfrm>
            <a:custGeom>
              <a:avLst/>
              <a:gdLst/>
              <a:ahLst/>
              <a:cxnLst/>
              <a:rect r="r" b="b" t="t" l="l"/>
              <a:pathLst>
                <a:path h="650684" w="655672">
                  <a:moveTo>
                    <a:pt x="0" y="0"/>
                  </a:moveTo>
                  <a:lnTo>
                    <a:pt x="655672" y="0"/>
                  </a:lnTo>
                  <a:lnTo>
                    <a:pt x="655672" y="650684"/>
                  </a:lnTo>
                  <a:lnTo>
                    <a:pt x="0" y="650684"/>
                  </a:lnTo>
                  <a:close/>
                </a:path>
              </a:pathLst>
            </a:custGeom>
            <a:blipFill>
              <a:blip r:embed="rId7"/>
              <a:stretch>
                <a:fillRect l="-3867" t="0" r="-3867" b="0"/>
              </a:stretch>
            </a:blipFill>
          </p:spPr>
        </p:sp>
      </p:grpSp>
      <p:grpSp>
        <p:nvGrpSpPr>
          <p:cNvPr name="Group 14" id="14"/>
          <p:cNvGrpSpPr/>
          <p:nvPr/>
        </p:nvGrpSpPr>
        <p:grpSpPr>
          <a:xfrm rot="0">
            <a:off x="12642707" y="1972963"/>
            <a:ext cx="4232159" cy="4199962"/>
            <a:chOff x="0" y="0"/>
            <a:chExt cx="655672" cy="650684"/>
          </a:xfrm>
        </p:grpSpPr>
        <p:sp>
          <p:nvSpPr>
            <p:cNvPr name="Freeform 15" id="15"/>
            <p:cNvSpPr/>
            <p:nvPr/>
          </p:nvSpPr>
          <p:spPr>
            <a:xfrm flipH="false" flipV="false" rot="0">
              <a:off x="0" y="0"/>
              <a:ext cx="655672" cy="650684"/>
            </a:xfrm>
            <a:custGeom>
              <a:avLst/>
              <a:gdLst/>
              <a:ahLst/>
              <a:cxnLst/>
              <a:rect r="r" b="b" t="t" l="l"/>
              <a:pathLst>
                <a:path h="650684" w="655672">
                  <a:moveTo>
                    <a:pt x="0" y="0"/>
                  </a:moveTo>
                  <a:lnTo>
                    <a:pt x="655672" y="0"/>
                  </a:lnTo>
                  <a:lnTo>
                    <a:pt x="655672" y="650684"/>
                  </a:lnTo>
                  <a:lnTo>
                    <a:pt x="0" y="650684"/>
                  </a:lnTo>
                  <a:close/>
                </a:path>
              </a:pathLst>
            </a:custGeom>
            <a:blipFill>
              <a:blip r:embed="rId8"/>
              <a:stretch>
                <a:fillRect l="-7106" t="0" r="-7106" b="0"/>
              </a:stretch>
            </a:blipFill>
          </p:spPr>
        </p:sp>
      </p:grpSp>
      <p:sp>
        <p:nvSpPr>
          <p:cNvPr name="TextBox 16" id="16"/>
          <p:cNvSpPr txBox="true"/>
          <p:nvPr/>
        </p:nvSpPr>
        <p:spPr>
          <a:xfrm rot="0">
            <a:off x="14457899" y="9278166"/>
            <a:ext cx="3008680" cy="356632"/>
          </a:xfrm>
          <a:prstGeom prst="rect">
            <a:avLst/>
          </a:prstGeom>
        </p:spPr>
        <p:txBody>
          <a:bodyPr anchor="t" rtlCol="false" tIns="0" lIns="0" bIns="0" rIns="0">
            <a:spAutoFit/>
          </a:bodyPr>
          <a:lstStyle/>
          <a:p>
            <a:pPr algn="l">
              <a:lnSpc>
                <a:spcPts val="2918"/>
              </a:lnSpc>
            </a:pPr>
            <a:r>
              <a:rPr lang="en-US" sz="2084" b="true">
                <a:solidFill>
                  <a:srgbClr val="001E3A"/>
                </a:solidFill>
                <a:latin typeface="Garet Bold"/>
                <a:ea typeface="Garet Bold"/>
                <a:cs typeface="Garet Bold"/>
                <a:sym typeface="Garet Bold"/>
              </a:rPr>
              <a:t>VPP ONLINE</a:t>
            </a:r>
          </a:p>
        </p:txBody>
      </p:sp>
      <p:sp>
        <p:nvSpPr>
          <p:cNvPr name="TextBox 17" id="17"/>
          <p:cNvSpPr txBox="true"/>
          <p:nvPr/>
        </p:nvSpPr>
        <p:spPr>
          <a:xfrm rot="0">
            <a:off x="13691401" y="9363075"/>
            <a:ext cx="559219" cy="339215"/>
          </a:xfrm>
          <a:prstGeom prst="rect">
            <a:avLst/>
          </a:prstGeom>
        </p:spPr>
        <p:txBody>
          <a:bodyPr anchor="t" rtlCol="false" tIns="0" lIns="0" bIns="0" rIns="0">
            <a:spAutoFit/>
          </a:bodyPr>
          <a:lstStyle/>
          <a:p>
            <a:pPr algn="ctr">
              <a:lnSpc>
                <a:spcPts val="2440"/>
              </a:lnSpc>
            </a:pPr>
            <a:r>
              <a:rPr lang="en-US" sz="2940" b="true">
                <a:solidFill>
                  <a:srgbClr val="001E3A"/>
                </a:solidFill>
                <a:latin typeface="Garet Ultra-Bold"/>
                <a:ea typeface="Garet Ultra-Bold"/>
                <a:cs typeface="Garet Ultra-Bold"/>
                <a:sym typeface="Garet Ultra-Bold"/>
              </a:rPr>
              <a:t>2</a:t>
            </a:r>
          </a:p>
        </p:txBody>
      </p:sp>
      <p:sp>
        <p:nvSpPr>
          <p:cNvPr name="TextBox 18" id="18"/>
          <p:cNvSpPr txBox="true"/>
          <p:nvPr/>
        </p:nvSpPr>
        <p:spPr>
          <a:xfrm rot="0">
            <a:off x="902568" y="6740887"/>
            <a:ext cx="5262307" cy="1153795"/>
          </a:xfrm>
          <a:prstGeom prst="rect">
            <a:avLst/>
          </a:prstGeom>
        </p:spPr>
        <p:txBody>
          <a:bodyPr anchor="t" rtlCol="false" tIns="0" lIns="0" bIns="0" rIns="0">
            <a:spAutoFit/>
          </a:bodyPr>
          <a:lstStyle/>
          <a:p>
            <a:pPr algn="just">
              <a:lnSpc>
                <a:spcPts val="3079"/>
              </a:lnSpc>
            </a:pPr>
            <a:r>
              <a:rPr lang="en-US" sz="2199">
                <a:solidFill>
                  <a:srgbClr val="001E3A"/>
                </a:solidFill>
                <a:latin typeface="Garet"/>
                <a:ea typeface="Garet"/>
                <a:cs typeface="Garet"/>
                <a:sym typeface="Garet"/>
              </a:rPr>
              <a:t>Phức tạp, dễ sai sót và gây tồn đọng</a:t>
            </a:r>
          </a:p>
          <a:p>
            <a:pPr algn="just">
              <a:lnSpc>
                <a:spcPts val="3079"/>
              </a:lnSpc>
            </a:pPr>
            <a:r>
              <a:rPr lang="en-US" sz="2199">
                <a:solidFill>
                  <a:srgbClr val="001E3A"/>
                </a:solidFill>
                <a:latin typeface="Garet"/>
                <a:ea typeface="Garet"/>
                <a:cs typeface="Garet"/>
                <a:sym typeface="Garet"/>
              </a:rPr>
              <a:t>vốn khi phải quản lý hàng nghìn mã</a:t>
            </a:r>
          </a:p>
          <a:p>
            <a:pPr algn="just">
              <a:lnSpc>
                <a:spcPts val="3079"/>
              </a:lnSpc>
            </a:pPr>
            <a:r>
              <a:rPr lang="en-US" sz="2199">
                <a:solidFill>
                  <a:srgbClr val="001E3A"/>
                </a:solidFill>
                <a:latin typeface="Garet"/>
                <a:ea typeface="Garet"/>
                <a:cs typeface="Garet"/>
                <a:sym typeface="Garet"/>
              </a:rPr>
              <a:t>sản phẩm nhỏ lẻ (bút, thước, giấy ... ).</a:t>
            </a:r>
          </a:p>
        </p:txBody>
      </p:sp>
      <p:sp>
        <p:nvSpPr>
          <p:cNvPr name="TextBox 19" id="19"/>
          <p:cNvSpPr txBox="true"/>
          <p:nvPr/>
        </p:nvSpPr>
        <p:spPr>
          <a:xfrm rot="0">
            <a:off x="6690017" y="6712947"/>
            <a:ext cx="5471588" cy="1544320"/>
          </a:xfrm>
          <a:prstGeom prst="rect">
            <a:avLst/>
          </a:prstGeom>
        </p:spPr>
        <p:txBody>
          <a:bodyPr anchor="t" rtlCol="false" tIns="0" lIns="0" bIns="0" rIns="0">
            <a:spAutoFit/>
          </a:bodyPr>
          <a:lstStyle/>
          <a:p>
            <a:pPr algn="l">
              <a:lnSpc>
                <a:spcPts val="3079"/>
              </a:lnSpc>
            </a:pPr>
            <a:r>
              <a:rPr lang="en-US" sz="2199">
                <a:solidFill>
                  <a:srgbClr val="001E3A"/>
                </a:solidFill>
                <a:latin typeface="Garet"/>
                <a:ea typeface="Garet"/>
                <a:cs typeface="Garet"/>
                <a:sym typeface="Garet"/>
              </a:rPr>
              <a:t>Chi phí mặt bằng cao, chỉ có thể</a:t>
            </a:r>
          </a:p>
          <a:p>
            <a:pPr algn="l">
              <a:lnSpc>
                <a:spcPts val="3079"/>
              </a:lnSpc>
            </a:pPr>
            <a:r>
              <a:rPr lang="en-US" sz="2199">
                <a:solidFill>
                  <a:srgbClr val="001E3A"/>
                </a:solidFill>
                <a:latin typeface="Garet"/>
                <a:ea typeface="Garet"/>
                <a:cs typeface="Garet"/>
                <a:sym typeface="Garet"/>
              </a:rPr>
              <a:t>phục vụ khách hàng trong một khu</a:t>
            </a:r>
          </a:p>
          <a:p>
            <a:pPr algn="l">
              <a:lnSpc>
                <a:spcPts val="3079"/>
              </a:lnSpc>
            </a:pPr>
            <a:r>
              <a:rPr lang="en-US" sz="2199">
                <a:solidFill>
                  <a:srgbClr val="001E3A"/>
                </a:solidFill>
                <a:latin typeface="Garet"/>
                <a:ea typeface="Garet"/>
                <a:cs typeface="Garet"/>
                <a:sym typeface="Garet"/>
              </a:rPr>
              <a:t>vực địa lý nhất định, bỏ lỡ lượng lớn</a:t>
            </a:r>
          </a:p>
          <a:p>
            <a:pPr algn="l">
              <a:lnSpc>
                <a:spcPts val="3079"/>
              </a:lnSpc>
            </a:pPr>
            <a:r>
              <a:rPr lang="en-US" sz="2199">
                <a:solidFill>
                  <a:srgbClr val="001E3A"/>
                </a:solidFill>
                <a:latin typeface="Garet"/>
                <a:ea typeface="Garet"/>
                <a:cs typeface="Garet"/>
                <a:sym typeface="Garet"/>
              </a:rPr>
              <a:t>khách hàng tiềm năng.</a:t>
            </a:r>
          </a:p>
        </p:txBody>
      </p:sp>
      <p:sp>
        <p:nvSpPr>
          <p:cNvPr name="TextBox 20" id="20"/>
          <p:cNvSpPr txBox="true"/>
          <p:nvPr/>
        </p:nvSpPr>
        <p:spPr>
          <a:xfrm rot="0">
            <a:off x="12161605" y="6712947"/>
            <a:ext cx="5471588" cy="2325370"/>
          </a:xfrm>
          <a:prstGeom prst="rect">
            <a:avLst/>
          </a:prstGeom>
        </p:spPr>
        <p:txBody>
          <a:bodyPr anchor="t" rtlCol="false" tIns="0" lIns="0" bIns="0" rIns="0">
            <a:spAutoFit/>
          </a:bodyPr>
          <a:lstStyle/>
          <a:p>
            <a:pPr algn="l">
              <a:lnSpc>
                <a:spcPts val="3079"/>
              </a:lnSpc>
            </a:pPr>
            <a:r>
              <a:rPr lang="en-US" sz="2199">
                <a:solidFill>
                  <a:srgbClr val="001E3A"/>
                </a:solidFill>
                <a:latin typeface="Garet"/>
                <a:ea typeface="Garet"/>
                <a:cs typeface="Garet"/>
                <a:sym typeface="Garet"/>
              </a:rPr>
              <a:t>Thiếu sự tiện lợi, không đáp ứng được</a:t>
            </a:r>
          </a:p>
          <a:p>
            <a:pPr algn="l">
              <a:lnSpc>
                <a:spcPts val="3079"/>
              </a:lnSpc>
            </a:pPr>
            <a:r>
              <a:rPr lang="en-US" sz="2199">
                <a:solidFill>
                  <a:srgbClr val="001E3A"/>
                </a:solidFill>
                <a:latin typeface="Garet"/>
                <a:ea typeface="Garet"/>
                <a:cs typeface="Garet"/>
                <a:sym typeface="Garet"/>
              </a:rPr>
              <a:t>nhu cầu mua sầm mọi lúc, mọi nơi (24/7)</a:t>
            </a:r>
          </a:p>
          <a:p>
            <a:pPr algn="l">
              <a:lnSpc>
                <a:spcPts val="3079"/>
              </a:lnSpc>
            </a:pPr>
            <a:r>
              <a:rPr lang="en-US" sz="2199">
                <a:solidFill>
                  <a:srgbClr val="001E3A"/>
                </a:solidFill>
                <a:latin typeface="Garet"/>
                <a:ea typeface="Garet"/>
                <a:cs typeface="Garet"/>
                <a:sym typeface="Garet"/>
              </a:rPr>
              <a:t>của người tiêu dùng hiện đại như học</a:t>
            </a:r>
          </a:p>
          <a:p>
            <a:pPr algn="l">
              <a:lnSpc>
                <a:spcPts val="3079"/>
              </a:lnSpc>
            </a:pPr>
            <a:r>
              <a:rPr lang="en-US" sz="2199">
                <a:solidFill>
                  <a:srgbClr val="001E3A"/>
                </a:solidFill>
                <a:latin typeface="Garet"/>
                <a:ea typeface="Garet"/>
                <a:cs typeface="Garet"/>
                <a:sym typeface="Garet"/>
              </a:rPr>
              <a:t>sinh, sinh viên và nhân viên văn phòng.</a:t>
            </a:r>
          </a:p>
        </p:txBody>
      </p:sp>
      <p:sp>
        <p:nvSpPr>
          <p:cNvPr name="TextBox 21" id="21"/>
          <p:cNvSpPr txBox="true"/>
          <p:nvPr/>
        </p:nvSpPr>
        <p:spPr>
          <a:xfrm rot="0">
            <a:off x="1739695" y="6111329"/>
            <a:ext cx="3588053" cy="396240"/>
          </a:xfrm>
          <a:prstGeom prst="rect">
            <a:avLst/>
          </a:prstGeom>
        </p:spPr>
        <p:txBody>
          <a:bodyPr anchor="t" rtlCol="false" tIns="0" lIns="0" bIns="0" rIns="0">
            <a:spAutoFit/>
          </a:bodyPr>
          <a:lstStyle/>
          <a:p>
            <a:pPr algn="just">
              <a:lnSpc>
                <a:spcPts val="3359"/>
              </a:lnSpc>
            </a:pPr>
            <a:r>
              <a:rPr lang="en-US" sz="2399" b="true">
                <a:solidFill>
                  <a:srgbClr val="001E3A"/>
                </a:solidFill>
                <a:latin typeface="Garet Bold"/>
                <a:ea typeface="Garet Bold"/>
                <a:cs typeface="Garet Bold"/>
                <a:sym typeface="Garet Bold"/>
              </a:rPr>
              <a:t>Quản lý kho thủ công</a:t>
            </a:r>
          </a:p>
        </p:txBody>
      </p:sp>
      <p:sp>
        <p:nvSpPr>
          <p:cNvPr name="TextBox 22" id="22"/>
          <p:cNvSpPr txBox="true"/>
          <p:nvPr/>
        </p:nvSpPr>
        <p:spPr>
          <a:xfrm rot="0">
            <a:off x="6859720" y="6134824"/>
            <a:ext cx="4571565" cy="396240"/>
          </a:xfrm>
          <a:prstGeom prst="rect">
            <a:avLst/>
          </a:prstGeom>
        </p:spPr>
        <p:txBody>
          <a:bodyPr anchor="t" rtlCol="false" tIns="0" lIns="0" bIns="0" rIns="0">
            <a:spAutoFit/>
          </a:bodyPr>
          <a:lstStyle/>
          <a:p>
            <a:pPr algn="just">
              <a:lnSpc>
                <a:spcPts val="3359"/>
              </a:lnSpc>
            </a:pPr>
            <a:r>
              <a:rPr lang="en-US" sz="2399" b="true">
                <a:solidFill>
                  <a:srgbClr val="001E3A"/>
                </a:solidFill>
                <a:latin typeface="Garet Bold"/>
                <a:ea typeface="Garet Bold"/>
                <a:cs typeface="Garet Bold"/>
                <a:sym typeface="Garet Bold"/>
              </a:rPr>
              <a:t>Phạm vi kinh doanh giới hạn</a:t>
            </a:r>
          </a:p>
        </p:txBody>
      </p:sp>
      <p:sp>
        <p:nvSpPr>
          <p:cNvPr name="TextBox 23" id="23"/>
          <p:cNvSpPr txBox="true"/>
          <p:nvPr/>
        </p:nvSpPr>
        <p:spPr>
          <a:xfrm rot="0">
            <a:off x="12338690" y="6134824"/>
            <a:ext cx="5117419" cy="396240"/>
          </a:xfrm>
          <a:prstGeom prst="rect">
            <a:avLst/>
          </a:prstGeom>
        </p:spPr>
        <p:txBody>
          <a:bodyPr anchor="t" rtlCol="false" tIns="0" lIns="0" bIns="0" rIns="0">
            <a:spAutoFit/>
          </a:bodyPr>
          <a:lstStyle/>
          <a:p>
            <a:pPr algn="just">
              <a:lnSpc>
                <a:spcPts val="3359"/>
              </a:lnSpc>
            </a:pPr>
            <a:r>
              <a:rPr lang="en-US" sz="2399" b="true">
                <a:solidFill>
                  <a:srgbClr val="001E3A"/>
                </a:solidFill>
                <a:latin typeface="Garet Bold"/>
                <a:ea typeface="Garet Bold"/>
                <a:cs typeface="Garet Bold"/>
                <a:sym typeface="Garet Bold"/>
              </a:rPr>
              <a:t>Trải nghiệm khách hàng lỗi thời</a:t>
            </a:r>
          </a:p>
        </p:txBody>
      </p:sp>
      <p:sp>
        <p:nvSpPr>
          <p:cNvPr name="TextBox 24" id="24"/>
          <p:cNvSpPr txBox="true"/>
          <p:nvPr/>
        </p:nvSpPr>
        <p:spPr>
          <a:xfrm rot="0">
            <a:off x="902568" y="840723"/>
            <a:ext cx="14168470" cy="765434"/>
          </a:xfrm>
          <a:prstGeom prst="rect">
            <a:avLst/>
          </a:prstGeom>
        </p:spPr>
        <p:txBody>
          <a:bodyPr anchor="t" rtlCol="false" tIns="0" lIns="0" bIns="0" rIns="0">
            <a:spAutoFit/>
          </a:bodyPr>
          <a:lstStyle/>
          <a:p>
            <a:pPr algn="l">
              <a:lnSpc>
                <a:spcPts val="5444"/>
              </a:lnSpc>
            </a:pPr>
            <a:r>
              <a:rPr lang="en-US" sz="6559" b="true">
                <a:solidFill>
                  <a:srgbClr val="001E3A"/>
                </a:solidFill>
                <a:latin typeface="Garet Ultra-Bold"/>
                <a:ea typeface="Garet Ultra-Bold"/>
                <a:cs typeface="Garet Ultra-Bold"/>
                <a:sym typeface="Garet Ultra-Bold"/>
              </a:rPr>
              <a:t>Lý do chọn đề tài</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5F1E9"/>
        </a:solidFill>
      </p:bgPr>
    </p:bg>
    <p:spTree>
      <p:nvGrpSpPr>
        <p:cNvPr id="1" name=""/>
        <p:cNvGrpSpPr/>
        <p:nvPr/>
      </p:nvGrpSpPr>
      <p:grpSpPr>
        <a:xfrm>
          <a:off x="0" y="0"/>
          <a:ext cx="0" cy="0"/>
          <a:chOff x="0" y="0"/>
          <a:chExt cx="0" cy="0"/>
        </a:xfrm>
      </p:grpSpPr>
      <p:grpSp>
        <p:nvGrpSpPr>
          <p:cNvPr name="Group 2" id="2"/>
          <p:cNvGrpSpPr/>
          <p:nvPr/>
        </p:nvGrpSpPr>
        <p:grpSpPr>
          <a:xfrm rot="0">
            <a:off x="15754960" y="-3542419"/>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7742740" y="3010255"/>
            <a:ext cx="2474354" cy="2458255"/>
            <a:chOff x="0" y="0"/>
            <a:chExt cx="651682" cy="647442"/>
          </a:xfrm>
        </p:grpSpPr>
        <p:sp>
          <p:nvSpPr>
            <p:cNvPr name="Freeform 11" id="11"/>
            <p:cNvSpPr/>
            <p:nvPr/>
          </p:nvSpPr>
          <p:spPr>
            <a:xfrm flipH="false" flipV="false" rot="0">
              <a:off x="0" y="0"/>
              <a:ext cx="651682" cy="647442"/>
            </a:xfrm>
            <a:custGeom>
              <a:avLst/>
              <a:gdLst/>
              <a:ahLst/>
              <a:cxnLst/>
              <a:rect r="r" b="b" t="t" l="l"/>
              <a:pathLst>
                <a:path h="647442" w="651682">
                  <a:moveTo>
                    <a:pt x="325841" y="0"/>
                  </a:moveTo>
                  <a:cubicBezTo>
                    <a:pt x="145884" y="0"/>
                    <a:pt x="0" y="144935"/>
                    <a:pt x="0" y="323721"/>
                  </a:cubicBezTo>
                  <a:cubicBezTo>
                    <a:pt x="0" y="502507"/>
                    <a:pt x="145884" y="647442"/>
                    <a:pt x="325841" y="647442"/>
                  </a:cubicBezTo>
                  <a:cubicBezTo>
                    <a:pt x="505798" y="647442"/>
                    <a:pt x="651682" y="502507"/>
                    <a:pt x="651682" y="323721"/>
                  </a:cubicBezTo>
                  <a:cubicBezTo>
                    <a:pt x="651682" y="144935"/>
                    <a:pt x="505798" y="0"/>
                    <a:pt x="325841" y="0"/>
                  </a:cubicBezTo>
                  <a:close/>
                </a:path>
              </a:pathLst>
            </a:custGeom>
            <a:solidFill>
              <a:srgbClr val="000000">
                <a:alpha val="0"/>
              </a:srgbClr>
            </a:solidFill>
            <a:ln w="38100" cap="sq">
              <a:solidFill>
                <a:srgbClr val="00679C"/>
              </a:solidFill>
              <a:prstDash val="solid"/>
              <a:miter/>
            </a:ln>
          </p:spPr>
        </p:sp>
        <p:sp>
          <p:nvSpPr>
            <p:cNvPr name="TextBox 12" id="12"/>
            <p:cNvSpPr txBox="true"/>
            <p:nvPr/>
          </p:nvSpPr>
          <p:spPr>
            <a:xfrm>
              <a:off x="61095" y="22598"/>
              <a:ext cx="529491" cy="564146"/>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322043" y="1959648"/>
            <a:ext cx="4534973" cy="1108074"/>
            <a:chOff x="0" y="0"/>
            <a:chExt cx="1194396" cy="291839"/>
          </a:xfrm>
        </p:grpSpPr>
        <p:sp>
          <p:nvSpPr>
            <p:cNvPr name="Freeform 14" id="14"/>
            <p:cNvSpPr/>
            <p:nvPr/>
          </p:nvSpPr>
          <p:spPr>
            <a:xfrm flipH="false" flipV="false" rot="0">
              <a:off x="0" y="0"/>
              <a:ext cx="1194396" cy="291839"/>
            </a:xfrm>
            <a:custGeom>
              <a:avLst/>
              <a:gdLst/>
              <a:ahLst/>
              <a:cxnLst/>
              <a:rect r="r" b="b" t="t" l="l"/>
              <a:pathLst>
                <a:path h="291839" w="1194396">
                  <a:moveTo>
                    <a:pt x="42679" y="0"/>
                  </a:moveTo>
                  <a:lnTo>
                    <a:pt x="1151717" y="0"/>
                  </a:lnTo>
                  <a:cubicBezTo>
                    <a:pt x="1175288" y="0"/>
                    <a:pt x="1194396" y="19108"/>
                    <a:pt x="1194396" y="42679"/>
                  </a:cubicBezTo>
                  <a:lnTo>
                    <a:pt x="1194396" y="249160"/>
                  </a:lnTo>
                  <a:cubicBezTo>
                    <a:pt x="1194396" y="272731"/>
                    <a:pt x="1175288" y="291839"/>
                    <a:pt x="1151717" y="291839"/>
                  </a:cubicBezTo>
                  <a:lnTo>
                    <a:pt x="42679" y="291839"/>
                  </a:lnTo>
                  <a:cubicBezTo>
                    <a:pt x="19108" y="291839"/>
                    <a:pt x="0" y="272731"/>
                    <a:pt x="0" y="249160"/>
                  </a:cubicBezTo>
                  <a:lnTo>
                    <a:pt x="0" y="42679"/>
                  </a:lnTo>
                  <a:cubicBezTo>
                    <a:pt x="0" y="19108"/>
                    <a:pt x="19108" y="0"/>
                    <a:pt x="42679" y="0"/>
                  </a:cubicBezTo>
                  <a:close/>
                </a:path>
              </a:pathLst>
            </a:custGeom>
            <a:solidFill>
              <a:srgbClr val="FFFFFF"/>
            </a:solidFill>
            <a:ln w="38100" cap="rnd">
              <a:solidFill>
                <a:srgbClr val="000000"/>
              </a:solidFill>
              <a:prstDash val="solid"/>
              <a:round/>
            </a:ln>
          </p:spPr>
        </p:sp>
        <p:sp>
          <p:nvSpPr>
            <p:cNvPr name="TextBox 15" id="15"/>
            <p:cNvSpPr txBox="true"/>
            <p:nvPr/>
          </p:nvSpPr>
          <p:spPr>
            <a:xfrm>
              <a:off x="0" y="-47625"/>
              <a:ext cx="1194396" cy="339464"/>
            </a:xfrm>
            <a:prstGeom prst="rect">
              <a:avLst/>
            </a:prstGeom>
          </p:spPr>
          <p:txBody>
            <a:bodyPr anchor="ctr" rtlCol="false" tIns="50800" lIns="50800" bIns="50800" rIns="50800"/>
            <a:lstStyle/>
            <a:p>
              <a:pPr algn="ctr">
                <a:lnSpc>
                  <a:spcPts val="3499"/>
                </a:lnSpc>
              </a:pPr>
              <a:r>
                <a:rPr lang="en-US" sz="2499" b="true">
                  <a:solidFill>
                    <a:srgbClr val="000000"/>
                  </a:solidFill>
                  <a:latin typeface="Garet Bold"/>
                  <a:ea typeface="Garet Bold"/>
                  <a:cs typeface="Garet Bold"/>
                  <a:sym typeface="Garet Bold"/>
                </a:rPr>
                <a:t>Đối với người bán </a:t>
              </a:r>
            </a:p>
            <a:p>
              <a:pPr algn="ctr">
                <a:lnSpc>
                  <a:spcPts val="3499"/>
                </a:lnSpc>
              </a:pPr>
              <a:r>
                <a:rPr lang="en-US" b="true" sz="2499">
                  <a:solidFill>
                    <a:srgbClr val="000000"/>
                  </a:solidFill>
                  <a:latin typeface="Garet Bold"/>
                  <a:ea typeface="Garet Bold"/>
                  <a:cs typeface="Garet Bold"/>
                  <a:sym typeface="Garet Bold"/>
                </a:rPr>
                <a:t>(Chủ cửa hàng) </a:t>
              </a:r>
            </a:p>
          </p:txBody>
        </p:sp>
      </p:grpSp>
      <p:grpSp>
        <p:nvGrpSpPr>
          <p:cNvPr name="Group 16" id="16"/>
          <p:cNvGrpSpPr/>
          <p:nvPr/>
        </p:nvGrpSpPr>
        <p:grpSpPr>
          <a:xfrm rot="0">
            <a:off x="12219002" y="1959648"/>
            <a:ext cx="4534973" cy="1108074"/>
            <a:chOff x="0" y="0"/>
            <a:chExt cx="1194396" cy="291839"/>
          </a:xfrm>
        </p:grpSpPr>
        <p:sp>
          <p:nvSpPr>
            <p:cNvPr name="Freeform 17" id="17"/>
            <p:cNvSpPr/>
            <p:nvPr/>
          </p:nvSpPr>
          <p:spPr>
            <a:xfrm flipH="false" flipV="false" rot="0">
              <a:off x="0" y="0"/>
              <a:ext cx="1194396" cy="291839"/>
            </a:xfrm>
            <a:custGeom>
              <a:avLst/>
              <a:gdLst/>
              <a:ahLst/>
              <a:cxnLst/>
              <a:rect r="r" b="b" t="t" l="l"/>
              <a:pathLst>
                <a:path h="291839" w="1194396">
                  <a:moveTo>
                    <a:pt x="42679" y="0"/>
                  </a:moveTo>
                  <a:lnTo>
                    <a:pt x="1151717" y="0"/>
                  </a:lnTo>
                  <a:cubicBezTo>
                    <a:pt x="1175288" y="0"/>
                    <a:pt x="1194396" y="19108"/>
                    <a:pt x="1194396" y="42679"/>
                  </a:cubicBezTo>
                  <a:lnTo>
                    <a:pt x="1194396" y="249160"/>
                  </a:lnTo>
                  <a:cubicBezTo>
                    <a:pt x="1194396" y="272731"/>
                    <a:pt x="1175288" y="291839"/>
                    <a:pt x="1151717" y="291839"/>
                  </a:cubicBezTo>
                  <a:lnTo>
                    <a:pt x="42679" y="291839"/>
                  </a:lnTo>
                  <a:cubicBezTo>
                    <a:pt x="19108" y="291839"/>
                    <a:pt x="0" y="272731"/>
                    <a:pt x="0" y="249160"/>
                  </a:cubicBezTo>
                  <a:lnTo>
                    <a:pt x="0" y="42679"/>
                  </a:lnTo>
                  <a:cubicBezTo>
                    <a:pt x="0" y="19108"/>
                    <a:pt x="19108" y="0"/>
                    <a:pt x="42679" y="0"/>
                  </a:cubicBezTo>
                  <a:close/>
                </a:path>
              </a:pathLst>
            </a:custGeom>
            <a:solidFill>
              <a:srgbClr val="FFFFFF"/>
            </a:solidFill>
            <a:ln w="38100" cap="rnd">
              <a:solidFill>
                <a:srgbClr val="000000"/>
              </a:solidFill>
              <a:prstDash val="solid"/>
              <a:round/>
            </a:ln>
          </p:spPr>
        </p:sp>
        <p:sp>
          <p:nvSpPr>
            <p:cNvPr name="TextBox 18" id="18"/>
            <p:cNvSpPr txBox="true"/>
            <p:nvPr/>
          </p:nvSpPr>
          <p:spPr>
            <a:xfrm>
              <a:off x="0" y="-47625"/>
              <a:ext cx="1194396" cy="339464"/>
            </a:xfrm>
            <a:prstGeom prst="rect">
              <a:avLst/>
            </a:prstGeom>
          </p:spPr>
          <p:txBody>
            <a:bodyPr anchor="ctr" rtlCol="false" tIns="50800" lIns="50800" bIns="50800" rIns="50800"/>
            <a:lstStyle/>
            <a:p>
              <a:pPr algn="ctr">
                <a:lnSpc>
                  <a:spcPts val="3499"/>
                </a:lnSpc>
              </a:pPr>
              <a:r>
                <a:rPr lang="en-US" sz="2499" b="true">
                  <a:solidFill>
                    <a:srgbClr val="000000"/>
                  </a:solidFill>
                  <a:latin typeface="Garet Bold"/>
                  <a:ea typeface="Garet Bold"/>
                  <a:cs typeface="Garet Bold"/>
                  <a:sym typeface="Garet Bold"/>
                </a:rPr>
                <a:t>Đối với người mua </a:t>
              </a:r>
            </a:p>
            <a:p>
              <a:pPr algn="ctr">
                <a:lnSpc>
                  <a:spcPts val="3499"/>
                </a:lnSpc>
              </a:pPr>
              <a:r>
                <a:rPr lang="en-US" b="true" sz="2499">
                  <a:solidFill>
                    <a:srgbClr val="000000"/>
                  </a:solidFill>
                  <a:latin typeface="Garet Bold"/>
                  <a:ea typeface="Garet Bold"/>
                  <a:cs typeface="Garet Bold"/>
                  <a:sym typeface="Garet Bold"/>
                </a:rPr>
                <a:t>(Khách hàng) </a:t>
              </a:r>
            </a:p>
          </p:txBody>
        </p:sp>
      </p:grpSp>
      <p:sp>
        <p:nvSpPr>
          <p:cNvPr name="AutoShape 19" id="19"/>
          <p:cNvSpPr/>
          <p:nvPr/>
        </p:nvSpPr>
        <p:spPr>
          <a:xfrm flipV="true">
            <a:off x="10217093" y="2513685"/>
            <a:ext cx="2001909" cy="1725697"/>
          </a:xfrm>
          <a:prstGeom prst="line">
            <a:avLst/>
          </a:prstGeom>
          <a:ln cap="flat" w="38100">
            <a:solidFill>
              <a:srgbClr val="000000"/>
            </a:solidFill>
            <a:prstDash val="solid"/>
            <a:headEnd type="none" len="sm" w="sm"/>
            <a:tailEnd type="triangle" len="med" w="lg"/>
          </a:ln>
        </p:spPr>
      </p:sp>
      <p:sp>
        <p:nvSpPr>
          <p:cNvPr name="AutoShape 20" id="20"/>
          <p:cNvSpPr/>
          <p:nvPr/>
        </p:nvSpPr>
        <p:spPr>
          <a:xfrm flipH="true" flipV="true">
            <a:off x="5857016" y="2513685"/>
            <a:ext cx="1885724" cy="1725697"/>
          </a:xfrm>
          <a:prstGeom prst="line">
            <a:avLst/>
          </a:prstGeom>
          <a:ln cap="flat" w="38100">
            <a:solidFill>
              <a:srgbClr val="000000"/>
            </a:solidFill>
            <a:prstDash val="solid"/>
            <a:headEnd type="none" len="sm" w="sm"/>
            <a:tailEnd type="triangle" len="med" w="lg"/>
          </a:ln>
        </p:spPr>
      </p:sp>
      <p:grpSp>
        <p:nvGrpSpPr>
          <p:cNvPr name="Group 21" id="21"/>
          <p:cNvGrpSpPr/>
          <p:nvPr/>
        </p:nvGrpSpPr>
        <p:grpSpPr>
          <a:xfrm rot="0">
            <a:off x="1447884" y="3698067"/>
            <a:ext cx="1565780" cy="1336467"/>
            <a:chOff x="0" y="0"/>
            <a:chExt cx="242580" cy="207054"/>
          </a:xfrm>
        </p:grpSpPr>
        <p:sp>
          <p:nvSpPr>
            <p:cNvPr name="Freeform 22" id="22"/>
            <p:cNvSpPr/>
            <p:nvPr/>
          </p:nvSpPr>
          <p:spPr>
            <a:xfrm flipH="false" flipV="false" rot="0">
              <a:off x="0" y="0"/>
              <a:ext cx="242580" cy="207054"/>
            </a:xfrm>
            <a:custGeom>
              <a:avLst/>
              <a:gdLst/>
              <a:ahLst/>
              <a:cxnLst/>
              <a:rect r="r" b="b" t="t" l="l"/>
              <a:pathLst>
                <a:path h="207054" w="242580">
                  <a:moveTo>
                    <a:pt x="0" y="0"/>
                  </a:moveTo>
                  <a:lnTo>
                    <a:pt x="242580" y="0"/>
                  </a:lnTo>
                  <a:lnTo>
                    <a:pt x="242580" y="207054"/>
                  </a:lnTo>
                  <a:lnTo>
                    <a:pt x="0" y="207054"/>
                  </a:lnTo>
                  <a:close/>
                </a:path>
              </a:pathLst>
            </a:custGeom>
            <a:blipFill>
              <a:blip r:embed="rId6"/>
              <a:stretch>
                <a:fillRect l="0" t="-8579" r="0" b="-8579"/>
              </a:stretch>
            </a:blipFill>
          </p:spPr>
        </p:sp>
      </p:grpSp>
      <p:grpSp>
        <p:nvGrpSpPr>
          <p:cNvPr name="Group 23" id="23"/>
          <p:cNvGrpSpPr/>
          <p:nvPr/>
        </p:nvGrpSpPr>
        <p:grpSpPr>
          <a:xfrm rot="0">
            <a:off x="1447884" y="5358124"/>
            <a:ext cx="1565780" cy="1336467"/>
            <a:chOff x="0" y="0"/>
            <a:chExt cx="242580" cy="207054"/>
          </a:xfrm>
        </p:grpSpPr>
        <p:sp>
          <p:nvSpPr>
            <p:cNvPr name="Freeform 24" id="24"/>
            <p:cNvSpPr/>
            <p:nvPr/>
          </p:nvSpPr>
          <p:spPr>
            <a:xfrm flipH="false" flipV="false" rot="0">
              <a:off x="0" y="0"/>
              <a:ext cx="242580" cy="207054"/>
            </a:xfrm>
            <a:custGeom>
              <a:avLst/>
              <a:gdLst/>
              <a:ahLst/>
              <a:cxnLst/>
              <a:rect r="r" b="b" t="t" l="l"/>
              <a:pathLst>
                <a:path h="207054" w="242580">
                  <a:moveTo>
                    <a:pt x="0" y="0"/>
                  </a:moveTo>
                  <a:lnTo>
                    <a:pt x="242580" y="0"/>
                  </a:lnTo>
                  <a:lnTo>
                    <a:pt x="242580" y="207054"/>
                  </a:lnTo>
                  <a:lnTo>
                    <a:pt x="0" y="207054"/>
                  </a:lnTo>
                  <a:close/>
                </a:path>
              </a:pathLst>
            </a:custGeom>
            <a:blipFill>
              <a:blip r:embed="rId7"/>
              <a:stretch>
                <a:fillRect l="0" t="-12950" r="0" b="-12950"/>
              </a:stretch>
            </a:blipFill>
          </p:spPr>
        </p:sp>
      </p:grpSp>
      <p:grpSp>
        <p:nvGrpSpPr>
          <p:cNvPr name="Group 25" id="25"/>
          <p:cNvGrpSpPr/>
          <p:nvPr/>
        </p:nvGrpSpPr>
        <p:grpSpPr>
          <a:xfrm rot="0">
            <a:off x="12219002" y="3571149"/>
            <a:ext cx="1565780" cy="1336467"/>
            <a:chOff x="0" y="0"/>
            <a:chExt cx="242580" cy="207054"/>
          </a:xfrm>
        </p:grpSpPr>
        <p:sp>
          <p:nvSpPr>
            <p:cNvPr name="Freeform 26" id="26"/>
            <p:cNvSpPr/>
            <p:nvPr/>
          </p:nvSpPr>
          <p:spPr>
            <a:xfrm flipH="false" flipV="false" rot="0">
              <a:off x="0" y="0"/>
              <a:ext cx="242580" cy="207054"/>
            </a:xfrm>
            <a:custGeom>
              <a:avLst/>
              <a:gdLst/>
              <a:ahLst/>
              <a:cxnLst/>
              <a:rect r="r" b="b" t="t" l="l"/>
              <a:pathLst>
                <a:path h="207054" w="242580">
                  <a:moveTo>
                    <a:pt x="0" y="0"/>
                  </a:moveTo>
                  <a:lnTo>
                    <a:pt x="242580" y="0"/>
                  </a:lnTo>
                  <a:lnTo>
                    <a:pt x="242580" y="207054"/>
                  </a:lnTo>
                  <a:lnTo>
                    <a:pt x="0" y="207054"/>
                  </a:lnTo>
                  <a:close/>
                </a:path>
              </a:pathLst>
            </a:custGeom>
            <a:blipFill>
              <a:blip r:embed="rId8"/>
              <a:stretch>
                <a:fillRect l="0" t="-20819" r="0" b="-20819"/>
              </a:stretch>
            </a:blipFill>
          </p:spPr>
        </p:sp>
      </p:grpSp>
      <p:grpSp>
        <p:nvGrpSpPr>
          <p:cNvPr name="Group 27" id="27"/>
          <p:cNvGrpSpPr/>
          <p:nvPr/>
        </p:nvGrpSpPr>
        <p:grpSpPr>
          <a:xfrm rot="0">
            <a:off x="12219002" y="5199962"/>
            <a:ext cx="1565780" cy="1336467"/>
            <a:chOff x="0" y="0"/>
            <a:chExt cx="242580" cy="207054"/>
          </a:xfrm>
        </p:grpSpPr>
        <p:sp>
          <p:nvSpPr>
            <p:cNvPr name="Freeform 28" id="28"/>
            <p:cNvSpPr/>
            <p:nvPr/>
          </p:nvSpPr>
          <p:spPr>
            <a:xfrm flipH="false" flipV="false" rot="0">
              <a:off x="0" y="0"/>
              <a:ext cx="242580" cy="207054"/>
            </a:xfrm>
            <a:custGeom>
              <a:avLst/>
              <a:gdLst/>
              <a:ahLst/>
              <a:cxnLst/>
              <a:rect r="r" b="b" t="t" l="l"/>
              <a:pathLst>
                <a:path h="207054" w="242580">
                  <a:moveTo>
                    <a:pt x="0" y="0"/>
                  </a:moveTo>
                  <a:lnTo>
                    <a:pt x="242580" y="0"/>
                  </a:lnTo>
                  <a:lnTo>
                    <a:pt x="242580" y="207054"/>
                  </a:lnTo>
                  <a:lnTo>
                    <a:pt x="0" y="207054"/>
                  </a:lnTo>
                  <a:close/>
                </a:path>
              </a:pathLst>
            </a:custGeom>
            <a:blipFill>
              <a:blip r:embed="rId9"/>
              <a:stretch>
                <a:fillRect l="0" t="-13303" r="0" b="-13303"/>
              </a:stretch>
            </a:blipFill>
          </p:spPr>
        </p:sp>
      </p:grpSp>
      <p:grpSp>
        <p:nvGrpSpPr>
          <p:cNvPr name="Group 29" id="29"/>
          <p:cNvGrpSpPr/>
          <p:nvPr/>
        </p:nvGrpSpPr>
        <p:grpSpPr>
          <a:xfrm rot="0">
            <a:off x="3589529" y="7516218"/>
            <a:ext cx="10893265" cy="1546283"/>
            <a:chOff x="0" y="0"/>
            <a:chExt cx="2869008" cy="407251"/>
          </a:xfrm>
        </p:grpSpPr>
        <p:sp>
          <p:nvSpPr>
            <p:cNvPr name="Freeform 30" id="30"/>
            <p:cNvSpPr/>
            <p:nvPr/>
          </p:nvSpPr>
          <p:spPr>
            <a:xfrm flipH="false" flipV="false" rot="0">
              <a:off x="0" y="0"/>
              <a:ext cx="2869008" cy="407251"/>
            </a:xfrm>
            <a:custGeom>
              <a:avLst/>
              <a:gdLst/>
              <a:ahLst/>
              <a:cxnLst/>
              <a:rect r="r" b="b" t="t" l="l"/>
              <a:pathLst>
                <a:path h="407251" w="2869008">
                  <a:moveTo>
                    <a:pt x="36246" y="0"/>
                  </a:moveTo>
                  <a:lnTo>
                    <a:pt x="2832762" y="0"/>
                  </a:lnTo>
                  <a:cubicBezTo>
                    <a:pt x="2842375" y="0"/>
                    <a:pt x="2851594" y="3819"/>
                    <a:pt x="2858392" y="10616"/>
                  </a:cubicBezTo>
                  <a:cubicBezTo>
                    <a:pt x="2865189" y="17414"/>
                    <a:pt x="2869008" y="26633"/>
                    <a:pt x="2869008" y="36246"/>
                  </a:cubicBezTo>
                  <a:lnTo>
                    <a:pt x="2869008" y="371005"/>
                  </a:lnTo>
                  <a:cubicBezTo>
                    <a:pt x="2869008" y="391023"/>
                    <a:pt x="2852780" y="407251"/>
                    <a:pt x="2832762" y="407251"/>
                  </a:cubicBezTo>
                  <a:lnTo>
                    <a:pt x="36246" y="407251"/>
                  </a:lnTo>
                  <a:cubicBezTo>
                    <a:pt x="26633" y="407251"/>
                    <a:pt x="17414" y="403433"/>
                    <a:pt x="10616" y="396635"/>
                  </a:cubicBezTo>
                  <a:cubicBezTo>
                    <a:pt x="3819" y="389838"/>
                    <a:pt x="0" y="380618"/>
                    <a:pt x="0" y="371005"/>
                  </a:cubicBezTo>
                  <a:lnTo>
                    <a:pt x="0" y="36246"/>
                  </a:lnTo>
                  <a:cubicBezTo>
                    <a:pt x="0" y="26633"/>
                    <a:pt x="3819" y="17414"/>
                    <a:pt x="10616" y="10616"/>
                  </a:cubicBezTo>
                  <a:cubicBezTo>
                    <a:pt x="17414" y="3819"/>
                    <a:pt x="26633" y="0"/>
                    <a:pt x="36246" y="0"/>
                  </a:cubicBezTo>
                  <a:close/>
                </a:path>
              </a:pathLst>
            </a:custGeom>
            <a:solidFill>
              <a:srgbClr val="D9D9D9"/>
            </a:solidFill>
            <a:ln w="38100" cap="rnd">
              <a:solidFill>
                <a:srgbClr val="000000"/>
              </a:solidFill>
              <a:prstDash val="solid"/>
              <a:round/>
            </a:ln>
          </p:spPr>
        </p:sp>
        <p:sp>
          <p:nvSpPr>
            <p:cNvPr name="TextBox 31" id="31"/>
            <p:cNvSpPr txBox="true"/>
            <p:nvPr/>
          </p:nvSpPr>
          <p:spPr>
            <a:xfrm>
              <a:off x="0" y="-38100"/>
              <a:ext cx="2869008" cy="445351"/>
            </a:xfrm>
            <a:prstGeom prst="rect">
              <a:avLst/>
            </a:prstGeom>
          </p:spPr>
          <p:txBody>
            <a:bodyPr anchor="ctr" rtlCol="false" tIns="50800" lIns="50800" bIns="50800" rIns="50800"/>
            <a:lstStyle/>
            <a:p>
              <a:pPr algn="ctr">
                <a:lnSpc>
                  <a:spcPts val="2659"/>
                </a:lnSpc>
              </a:pPr>
            </a:p>
          </p:txBody>
        </p:sp>
      </p:grpSp>
      <p:grpSp>
        <p:nvGrpSpPr>
          <p:cNvPr name="Group 32" id="32"/>
          <p:cNvGrpSpPr/>
          <p:nvPr/>
        </p:nvGrpSpPr>
        <p:grpSpPr>
          <a:xfrm rot="0">
            <a:off x="8496843" y="3422455"/>
            <a:ext cx="966147" cy="901805"/>
            <a:chOff x="0" y="0"/>
            <a:chExt cx="149681" cy="139713"/>
          </a:xfrm>
        </p:grpSpPr>
        <p:sp>
          <p:nvSpPr>
            <p:cNvPr name="Freeform 33" id="33"/>
            <p:cNvSpPr/>
            <p:nvPr/>
          </p:nvSpPr>
          <p:spPr>
            <a:xfrm flipH="false" flipV="false" rot="0">
              <a:off x="0" y="0"/>
              <a:ext cx="149681" cy="139713"/>
            </a:xfrm>
            <a:custGeom>
              <a:avLst/>
              <a:gdLst/>
              <a:ahLst/>
              <a:cxnLst/>
              <a:rect r="r" b="b" t="t" l="l"/>
              <a:pathLst>
                <a:path h="139713" w="149681">
                  <a:moveTo>
                    <a:pt x="0" y="0"/>
                  </a:moveTo>
                  <a:lnTo>
                    <a:pt x="149681" y="0"/>
                  </a:lnTo>
                  <a:lnTo>
                    <a:pt x="149681" y="139713"/>
                  </a:lnTo>
                  <a:lnTo>
                    <a:pt x="0" y="139713"/>
                  </a:lnTo>
                  <a:close/>
                </a:path>
              </a:pathLst>
            </a:custGeom>
            <a:blipFill>
              <a:blip r:embed="rId10"/>
              <a:stretch>
                <a:fillRect l="-7984" t="0" r="-7984" b="0"/>
              </a:stretch>
            </a:blipFill>
          </p:spPr>
        </p:sp>
      </p:grpSp>
      <p:sp>
        <p:nvSpPr>
          <p:cNvPr name="TextBox 34" id="34"/>
          <p:cNvSpPr txBox="true"/>
          <p:nvPr/>
        </p:nvSpPr>
        <p:spPr>
          <a:xfrm rot="0">
            <a:off x="449906" y="777913"/>
            <a:ext cx="14168470" cy="753110"/>
          </a:xfrm>
          <a:prstGeom prst="rect">
            <a:avLst/>
          </a:prstGeom>
        </p:spPr>
        <p:txBody>
          <a:bodyPr anchor="t" rtlCol="false" tIns="0" lIns="0" bIns="0" rIns="0">
            <a:spAutoFit/>
          </a:bodyPr>
          <a:lstStyle/>
          <a:p>
            <a:pPr algn="l">
              <a:lnSpc>
                <a:spcPts val="5394"/>
              </a:lnSpc>
            </a:pPr>
            <a:r>
              <a:rPr lang="en-US" sz="6499" b="true">
                <a:solidFill>
                  <a:srgbClr val="001E3A"/>
                </a:solidFill>
                <a:latin typeface="Garet Ultra-Bold"/>
                <a:ea typeface="Garet Ultra-Bold"/>
                <a:cs typeface="Garet Ultra-Bold"/>
                <a:sym typeface="Garet Ultra-Bold"/>
              </a:rPr>
              <a:t>Mục tiêu của hệ thống</a:t>
            </a:r>
          </a:p>
        </p:txBody>
      </p:sp>
      <p:sp>
        <p:nvSpPr>
          <p:cNvPr name="TextBox 35" id="35"/>
          <p:cNvSpPr txBox="true"/>
          <p:nvPr/>
        </p:nvSpPr>
        <p:spPr>
          <a:xfrm rot="0">
            <a:off x="13691401" y="9363075"/>
            <a:ext cx="559219" cy="339215"/>
          </a:xfrm>
          <a:prstGeom prst="rect">
            <a:avLst/>
          </a:prstGeom>
        </p:spPr>
        <p:txBody>
          <a:bodyPr anchor="t" rtlCol="false" tIns="0" lIns="0" bIns="0" rIns="0">
            <a:spAutoFit/>
          </a:bodyPr>
          <a:lstStyle/>
          <a:p>
            <a:pPr algn="ctr">
              <a:lnSpc>
                <a:spcPts val="2440"/>
              </a:lnSpc>
            </a:pPr>
            <a:r>
              <a:rPr lang="en-US" sz="2940" b="true">
                <a:solidFill>
                  <a:srgbClr val="001E3A"/>
                </a:solidFill>
                <a:latin typeface="Garet Ultra-Bold"/>
                <a:ea typeface="Garet Ultra-Bold"/>
                <a:cs typeface="Garet Ultra-Bold"/>
                <a:sym typeface="Garet Ultra-Bold"/>
              </a:rPr>
              <a:t>3</a:t>
            </a:r>
          </a:p>
        </p:txBody>
      </p:sp>
      <p:sp>
        <p:nvSpPr>
          <p:cNvPr name="TextBox 36" id="36"/>
          <p:cNvSpPr txBox="true"/>
          <p:nvPr/>
        </p:nvSpPr>
        <p:spPr>
          <a:xfrm rot="0">
            <a:off x="8216200" y="4431492"/>
            <a:ext cx="1527433" cy="422275"/>
          </a:xfrm>
          <a:prstGeom prst="rect">
            <a:avLst/>
          </a:prstGeom>
        </p:spPr>
        <p:txBody>
          <a:bodyPr anchor="t" rtlCol="false" tIns="0" lIns="0" bIns="0" rIns="0">
            <a:spAutoFit/>
          </a:bodyPr>
          <a:lstStyle/>
          <a:p>
            <a:pPr algn="l">
              <a:lnSpc>
                <a:spcPts val="3499"/>
              </a:lnSpc>
            </a:pPr>
            <a:r>
              <a:rPr lang="en-US" sz="2499" b="true">
                <a:solidFill>
                  <a:srgbClr val="001E3A"/>
                </a:solidFill>
                <a:latin typeface="Garet Bold"/>
                <a:ea typeface="Garet Bold"/>
                <a:cs typeface="Garet Bold"/>
                <a:sym typeface="Garet Bold"/>
              </a:rPr>
              <a:t>WEBSITE</a:t>
            </a:r>
          </a:p>
        </p:txBody>
      </p:sp>
      <p:sp>
        <p:nvSpPr>
          <p:cNvPr name="TextBox 37" id="37"/>
          <p:cNvSpPr txBox="true"/>
          <p:nvPr/>
        </p:nvSpPr>
        <p:spPr>
          <a:xfrm rot="0">
            <a:off x="3125004" y="3770353"/>
            <a:ext cx="3198363" cy="1934845"/>
          </a:xfrm>
          <a:prstGeom prst="rect">
            <a:avLst/>
          </a:prstGeom>
        </p:spPr>
        <p:txBody>
          <a:bodyPr anchor="t" rtlCol="false" tIns="0" lIns="0" bIns="0" rIns="0">
            <a:spAutoFit/>
          </a:bodyPr>
          <a:lstStyle/>
          <a:p>
            <a:pPr algn="l">
              <a:lnSpc>
                <a:spcPts val="3079"/>
              </a:lnSpc>
            </a:pPr>
            <a:r>
              <a:rPr lang="en-US" sz="2199">
                <a:solidFill>
                  <a:srgbClr val="001E3A"/>
                </a:solidFill>
                <a:latin typeface="Garet"/>
                <a:ea typeface="Garet"/>
                <a:cs typeface="Garet"/>
                <a:sym typeface="Garet"/>
              </a:rPr>
              <a:t>Tối ưu hóa vận hành: Tự động hóa quy trình quản lý kho và xử lý đơn hàng.</a:t>
            </a:r>
          </a:p>
        </p:txBody>
      </p:sp>
      <p:sp>
        <p:nvSpPr>
          <p:cNvPr name="TextBox 38" id="38"/>
          <p:cNvSpPr txBox="true"/>
          <p:nvPr/>
        </p:nvSpPr>
        <p:spPr>
          <a:xfrm rot="0">
            <a:off x="3125004" y="5428973"/>
            <a:ext cx="3198363" cy="1544320"/>
          </a:xfrm>
          <a:prstGeom prst="rect">
            <a:avLst/>
          </a:prstGeom>
        </p:spPr>
        <p:txBody>
          <a:bodyPr anchor="t" rtlCol="false" tIns="0" lIns="0" bIns="0" rIns="0">
            <a:spAutoFit/>
          </a:bodyPr>
          <a:lstStyle/>
          <a:p>
            <a:pPr algn="l">
              <a:lnSpc>
                <a:spcPts val="3079"/>
              </a:lnSpc>
            </a:pPr>
            <a:r>
              <a:rPr lang="en-US" sz="2199">
                <a:solidFill>
                  <a:srgbClr val="001E3A"/>
                </a:solidFill>
                <a:latin typeface="Garet"/>
                <a:ea typeface="Garet"/>
                <a:cs typeface="Garet"/>
                <a:sym typeface="Garet"/>
              </a:rPr>
              <a:t>Cung cấp báo cáo trực quan </a:t>
            </a:r>
            <a:r>
              <a:rPr lang="en-US" sz="2199">
                <a:solidFill>
                  <a:srgbClr val="001E3A"/>
                </a:solidFill>
                <a:latin typeface="Garet"/>
                <a:ea typeface="Garet"/>
                <a:cs typeface="Garet"/>
                <a:sym typeface="Garet"/>
              </a:rPr>
              <a:t>để đưa ra quyết định kinh doanh chính xác.</a:t>
            </a:r>
          </a:p>
        </p:txBody>
      </p:sp>
      <p:sp>
        <p:nvSpPr>
          <p:cNvPr name="TextBox 39" id="39"/>
          <p:cNvSpPr txBox="true"/>
          <p:nvPr/>
        </p:nvSpPr>
        <p:spPr>
          <a:xfrm rot="0">
            <a:off x="14046986" y="3533049"/>
            <a:ext cx="3212314" cy="1544320"/>
          </a:xfrm>
          <a:prstGeom prst="rect">
            <a:avLst/>
          </a:prstGeom>
        </p:spPr>
        <p:txBody>
          <a:bodyPr anchor="t" rtlCol="false" tIns="0" lIns="0" bIns="0" rIns="0">
            <a:spAutoFit/>
          </a:bodyPr>
          <a:lstStyle/>
          <a:p>
            <a:pPr algn="l">
              <a:lnSpc>
                <a:spcPts val="3079"/>
              </a:lnSpc>
            </a:pPr>
            <a:r>
              <a:rPr lang="en-US" sz="2199">
                <a:solidFill>
                  <a:srgbClr val="001E3A"/>
                </a:solidFill>
                <a:latin typeface="Garet"/>
                <a:ea typeface="Garet"/>
                <a:cs typeface="Garet"/>
                <a:sym typeface="Garet"/>
              </a:rPr>
              <a:t>Mang lại trải nghiệm mua sắm tiện lợi, nhanh chóng, và hiện đại.</a:t>
            </a:r>
          </a:p>
        </p:txBody>
      </p:sp>
      <p:sp>
        <p:nvSpPr>
          <p:cNvPr name="TextBox 40" id="40"/>
          <p:cNvSpPr txBox="true"/>
          <p:nvPr/>
        </p:nvSpPr>
        <p:spPr>
          <a:xfrm rot="0">
            <a:off x="13897839" y="5467510"/>
            <a:ext cx="3361461" cy="1153795"/>
          </a:xfrm>
          <a:prstGeom prst="rect">
            <a:avLst/>
          </a:prstGeom>
        </p:spPr>
        <p:txBody>
          <a:bodyPr anchor="t" rtlCol="false" tIns="0" lIns="0" bIns="0" rIns="0">
            <a:spAutoFit/>
          </a:bodyPr>
          <a:lstStyle/>
          <a:p>
            <a:pPr algn="l">
              <a:lnSpc>
                <a:spcPts val="3079"/>
              </a:lnSpc>
            </a:pPr>
            <a:r>
              <a:rPr lang="en-US" sz="2199">
                <a:solidFill>
                  <a:srgbClr val="001E3A"/>
                </a:solidFill>
                <a:latin typeface="Garet"/>
                <a:ea typeface="Garet"/>
                <a:cs typeface="Garet"/>
                <a:sym typeface="Garet"/>
              </a:rPr>
              <a:t>Dễ dàng tìm kiếm, so sánh và theo dõi đơn hàng.</a:t>
            </a:r>
          </a:p>
        </p:txBody>
      </p:sp>
      <p:sp>
        <p:nvSpPr>
          <p:cNvPr name="TextBox 41" id="41"/>
          <p:cNvSpPr txBox="true"/>
          <p:nvPr/>
        </p:nvSpPr>
        <p:spPr>
          <a:xfrm rot="0">
            <a:off x="4428585" y="7668618"/>
            <a:ext cx="9714198" cy="1207135"/>
          </a:xfrm>
          <a:prstGeom prst="rect">
            <a:avLst/>
          </a:prstGeom>
        </p:spPr>
        <p:txBody>
          <a:bodyPr anchor="t" rtlCol="false" tIns="0" lIns="0" bIns="0" rIns="0">
            <a:spAutoFit/>
          </a:bodyPr>
          <a:lstStyle/>
          <a:p>
            <a:pPr algn="ctr">
              <a:lnSpc>
                <a:spcPts val="3499"/>
              </a:lnSpc>
            </a:pPr>
            <a:r>
              <a:rPr lang="en-US" sz="2499" b="true">
                <a:solidFill>
                  <a:srgbClr val="001E3A"/>
                </a:solidFill>
                <a:latin typeface="Garet Bold"/>
                <a:ea typeface="Garet Bold"/>
                <a:cs typeface="Garet Bold"/>
                <a:sym typeface="Garet Bold"/>
              </a:rPr>
              <a:t>Về mặt Công nghệ (Mục tiêu học tập)</a:t>
            </a:r>
          </a:p>
          <a:p>
            <a:pPr algn="l">
              <a:lnSpc>
                <a:spcPts val="3079"/>
              </a:lnSpc>
            </a:pPr>
            <a:r>
              <a:rPr lang="en-US" sz="2199">
                <a:solidFill>
                  <a:srgbClr val="001E3A"/>
                </a:solidFill>
                <a:latin typeface="Garet"/>
                <a:ea typeface="Garet"/>
                <a:cs typeface="Garet"/>
                <a:sym typeface="Garet"/>
              </a:rPr>
              <a:t>Áp</a:t>
            </a:r>
            <a:r>
              <a:rPr lang="en-US" sz="2199">
                <a:solidFill>
                  <a:srgbClr val="001E3A"/>
                </a:solidFill>
                <a:latin typeface="Garet"/>
                <a:ea typeface="Garet"/>
                <a:cs typeface="Garet"/>
                <a:sym typeface="Garet"/>
              </a:rPr>
              <a:t> dụng và làm chủ bộ công nghệ mã nguồn mở hiện đại: Laravel</a:t>
            </a:r>
          </a:p>
          <a:p>
            <a:pPr algn="l">
              <a:lnSpc>
                <a:spcPts val="3079"/>
              </a:lnSpc>
            </a:pPr>
            <a:r>
              <a:rPr lang="en-US" sz="2199">
                <a:solidFill>
                  <a:srgbClr val="001E3A"/>
                </a:solidFill>
                <a:latin typeface="Garet"/>
                <a:ea typeface="Garet"/>
                <a:cs typeface="Garet"/>
                <a:sym typeface="Garet"/>
              </a:rPr>
              <a:t>Framework, MySQL, và các công nghệ frontend như Tailwind CSS.</a:t>
            </a:r>
          </a:p>
        </p:txBody>
      </p:sp>
      <p:sp>
        <p:nvSpPr>
          <p:cNvPr name="AutoShape 42" id="42"/>
          <p:cNvSpPr/>
          <p:nvPr/>
        </p:nvSpPr>
        <p:spPr>
          <a:xfrm>
            <a:off x="8979916" y="5468510"/>
            <a:ext cx="56246" cy="2047708"/>
          </a:xfrm>
          <a:prstGeom prst="line">
            <a:avLst/>
          </a:prstGeom>
          <a:ln cap="flat" w="38100">
            <a:solidFill>
              <a:srgbClr val="000000"/>
            </a:solidFill>
            <a:prstDash val="solid"/>
            <a:headEnd type="none" len="sm" w="sm"/>
            <a:tailEnd type="triangle" len="med" w="lg"/>
          </a:ln>
        </p:spPr>
      </p:sp>
      <p:sp>
        <p:nvSpPr>
          <p:cNvPr name="TextBox 43" id="43"/>
          <p:cNvSpPr txBox="true"/>
          <p:nvPr/>
        </p:nvSpPr>
        <p:spPr>
          <a:xfrm rot="0">
            <a:off x="14457899" y="9278166"/>
            <a:ext cx="3008680" cy="356632"/>
          </a:xfrm>
          <a:prstGeom prst="rect">
            <a:avLst/>
          </a:prstGeom>
        </p:spPr>
        <p:txBody>
          <a:bodyPr anchor="t" rtlCol="false" tIns="0" lIns="0" bIns="0" rIns="0">
            <a:spAutoFit/>
          </a:bodyPr>
          <a:lstStyle/>
          <a:p>
            <a:pPr algn="l">
              <a:lnSpc>
                <a:spcPts val="2918"/>
              </a:lnSpc>
            </a:pPr>
            <a:r>
              <a:rPr lang="en-US" sz="2084" b="true">
                <a:solidFill>
                  <a:srgbClr val="001E3A"/>
                </a:solidFill>
                <a:latin typeface="Garet Bold"/>
                <a:ea typeface="Garet Bold"/>
                <a:cs typeface="Garet Bold"/>
                <a:sym typeface="Garet Bold"/>
              </a:rPr>
              <a:t>VPP ONLINE</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E2E1D9"/>
        </a:solidFill>
      </p:bgPr>
    </p:bg>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045155" y="7993824"/>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128860" y="9944227"/>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070694" y="-1970940"/>
            <a:ext cx="3800634" cy="2079983"/>
          </a:xfrm>
          <a:custGeom>
            <a:avLst/>
            <a:gdLst/>
            <a:ahLst/>
            <a:cxnLst/>
            <a:rect r="r" b="b" t="t" l="l"/>
            <a:pathLst>
              <a:path h="2079983" w="3800634">
                <a:moveTo>
                  <a:pt x="0" y="0"/>
                </a:moveTo>
                <a:lnTo>
                  <a:pt x="3800634" y="0"/>
                </a:lnTo>
                <a:lnTo>
                  <a:pt x="3800634" y="2079984"/>
                </a:lnTo>
                <a:lnTo>
                  <a:pt x="0" y="20799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2980654" y="1022553"/>
            <a:ext cx="12326692" cy="2612678"/>
            <a:chOff x="0" y="0"/>
            <a:chExt cx="3246536" cy="688113"/>
          </a:xfrm>
        </p:grpSpPr>
        <p:sp>
          <p:nvSpPr>
            <p:cNvPr name="Freeform 11" id="11"/>
            <p:cNvSpPr/>
            <p:nvPr/>
          </p:nvSpPr>
          <p:spPr>
            <a:xfrm flipH="false" flipV="false" rot="0">
              <a:off x="0" y="0"/>
              <a:ext cx="3246536" cy="688113"/>
            </a:xfrm>
            <a:custGeom>
              <a:avLst/>
              <a:gdLst/>
              <a:ahLst/>
              <a:cxnLst/>
              <a:rect r="r" b="b" t="t" l="l"/>
              <a:pathLst>
                <a:path h="688113" w="3246536">
                  <a:moveTo>
                    <a:pt x="32031" y="0"/>
                  </a:moveTo>
                  <a:lnTo>
                    <a:pt x="3214505" y="0"/>
                  </a:lnTo>
                  <a:cubicBezTo>
                    <a:pt x="3232195" y="0"/>
                    <a:pt x="3246536" y="14341"/>
                    <a:pt x="3246536" y="32031"/>
                  </a:cubicBezTo>
                  <a:lnTo>
                    <a:pt x="3246536" y="656082"/>
                  </a:lnTo>
                  <a:cubicBezTo>
                    <a:pt x="3246536" y="673772"/>
                    <a:pt x="3232195" y="688113"/>
                    <a:pt x="3214505" y="688113"/>
                  </a:cubicBezTo>
                  <a:lnTo>
                    <a:pt x="32031" y="688113"/>
                  </a:lnTo>
                  <a:cubicBezTo>
                    <a:pt x="14341" y="688113"/>
                    <a:pt x="0" y="673772"/>
                    <a:pt x="0" y="656082"/>
                  </a:cubicBezTo>
                  <a:lnTo>
                    <a:pt x="0" y="32031"/>
                  </a:lnTo>
                  <a:cubicBezTo>
                    <a:pt x="0" y="14341"/>
                    <a:pt x="14341" y="0"/>
                    <a:pt x="32031" y="0"/>
                  </a:cubicBezTo>
                  <a:close/>
                </a:path>
              </a:pathLst>
            </a:custGeom>
            <a:gradFill rotWithShape="true">
              <a:gsLst>
                <a:gs pos="0">
                  <a:srgbClr val="000000">
                    <a:alpha val="100000"/>
                  </a:srgbClr>
                </a:gs>
                <a:gs pos="100000">
                  <a:srgbClr val="737373">
                    <a:alpha val="100000"/>
                  </a:srgbClr>
                </a:gs>
              </a:gsLst>
              <a:lin ang="0"/>
            </a:gradFill>
            <a:ln cap="rnd">
              <a:noFill/>
              <a:prstDash val="solid"/>
              <a:round/>
            </a:ln>
          </p:spPr>
        </p:sp>
        <p:sp>
          <p:nvSpPr>
            <p:cNvPr name="TextBox 12" id="12"/>
            <p:cNvSpPr txBox="true"/>
            <p:nvPr/>
          </p:nvSpPr>
          <p:spPr>
            <a:xfrm>
              <a:off x="0" y="-38100"/>
              <a:ext cx="3246536" cy="726213"/>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2980654" y="1022553"/>
            <a:ext cx="12326692" cy="2450916"/>
            <a:chOff x="0" y="0"/>
            <a:chExt cx="3246536" cy="645509"/>
          </a:xfrm>
        </p:grpSpPr>
        <p:sp>
          <p:nvSpPr>
            <p:cNvPr name="Freeform 14" id="14"/>
            <p:cNvSpPr/>
            <p:nvPr/>
          </p:nvSpPr>
          <p:spPr>
            <a:xfrm flipH="false" flipV="false" rot="0">
              <a:off x="0" y="0"/>
              <a:ext cx="3246536" cy="645509"/>
            </a:xfrm>
            <a:custGeom>
              <a:avLst/>
              <a:gdLst/>
              <a:ahLst/>
              <a:cxnLst/>
              <a:rect r="r" b="b" t="t" l="l"/>
              <a:pathLst>
                <a:path h="645509" w="3246536">
                  <a:moveTo>
                    <a:pt x="32031" y="0"/>
                  </a:moveTo>
                  <a:lnTo>
                    <a:pt x="3214505" y="0"/>
                  </a:lnTo>
                  <a:cubicBezTo>
                    <a:pt x="3232195" y="0"/>
                    <a:pt x="3246536" y="14341"/>
                    <a:pt x="3246536" y="32031"/>
                  </a:cubicBezTo>
                  <a:lnTo>
                    <a:pt x="3246536" y="613478"/>
                  </a:lnTo>
                  <a:cubicBezTo>
                    <a:pt x="3246536" y="631168"/>
                    <a:pt x="3232195" y="645509"/>
                    <a:pt x="3214505" y="645509"/>
                  </a:cubicBezTo>
                  <a:lnTo>
                    <a:pt x="32031" y="645509"/>
                  </a:lnTo>
                  <a:cubicBezTo>
                    <a:pt x="14341" y="645509"/>
                    <a:pt x="0" y="631168"/>
                    <a:pt x="0" y="613478"/>
                  </a:cubicBezTo>
                  <a:lnTo>
                    <a:pt x="0" y="32031"/>
                  </a:lnTo>
                  <a:cubicBezTo>
                    <a:pt x="0" y="14341"/>
                    <a:pt x="14341" y="0"/>
                    <a:pt x="32031" y="0"/>
                  </a:cubicBezTo>
                  <a:close/>
                </a:path>
              </a:pathLst>
            </a:custGeom>
            <a:solidFill>
              <a:srgbClr val="D9D9D9"/>
            </a:solidFill>
            <a:ln w="38100" cap="rnd">
              <a:solidFill>
                <a:srgbClr val="000000"/>
              </a:solidFill>
              <a:prstDash val="solid"/>
              <a:round/>
            </a:ln>
          </p:spPr>
        </p:sp>
        <p:sp>
          <p:nvSpPr>
            <p:cNvPr name="TextBox 15" id="15"/>
            <p:cNvSpPr txBox="true"/>
            <p:nvPr/>
          </p:nvSpPr>
          <p:spPr>
            <a:xfrm>
              <a:off x="0" y="-38100"/>
              <a:ext cx="3246536" cy="683609"/>
            </a:xfrm>
            <a:prstGeom prst="rect">
              <a:avLst/>
            </a:prstGeom>
          </p:spPr>
          <p:txBody>
            <a:bodyPr anchor="ctr" rtlCol="false" tIns="50800" lIns="50800" bIns="50800" rIns="50800"/>
            <a:lstStyle/>
            <a:p>
              <a:pPr algn="ctr">
                <a:lnSpc>
                  <a:spcPts val="2659"/>
                </a:lnSpc>
              </a:pPr>
            </a:p>
          </p:txBody>
        </p:sp>
      </p:grpSp>
      <p:sp>
        <p:nvSpPr>
          <p:cNvPr name="AutoShape 16" id="16"/>
          <p:cNvSpPr/>
          <p:nvPr/>
        </p:nvSpPr>
        <p:spPr>
          <a:xfrm>
            <a:off x="3647227" y="1766248"/>
            <a:ext cx="11157898" cy="0"/>
          </a:xfrm>
          <a:prstGeom prst="line">
            <a:avLst/>
          </a:prstGeom>
          <a:ln cap="flat" w="38100">
            <a:solidFill>
              <a:srgbClr val="000000"/>
            </a:solidFill>
            <a:prstDash val="solid"/>
            <a:headEnd type="none" len="sm" w="sm"/>
            <a:tailEnd type="none" len="sm" w="sm"/>
          </a:ln>
        </p:spPr>
      </p:sp>
      <p:grpSp>
        <p:nvGrpSpPr>
          <p:cNvPr name="Group 17" id="17"/>
          <p:cNvGrpSpPr/>
          <p:nvPr/>
        </p:nvGrpSpPr>
        <p:grpSpPr>
          <a:xfrm rot="0">
            <a:off x="2980654" y="3778106"/>
            <a:ext cx="12326692" cy="2612678"/>
            <a:chOff x="0" y="0"/>
            <a:chExt cx="3246536" cy="688113"/>
          </a:xfrm>
        </p:grpSpPr>
        <p:sp>
          <p:nvSpPr>
            <p:cNvPr name="Freeform 18" id="18"/>
            <p:cNvSpPr/>
            <p:nvPr/>
          </p:nvSpPr>
          <p:spPr>
            <a:xfrm flipH="false" flipV="false" rot="0">
              <a:off x="0" y="0"/>
              <a:ext cx="3246536" cy="688113"/>
            </a:xfrm>
            <a:custGeom>
              <a:avLst/>
              <a:gdLst/>
              <a:ahLst/>
              <a:cxnLst/>
              <a:rect r="r" b="b" t="t" l="l"/>
              <a:pathLst>
                <a:path h="688113" w="3246536">
                  <a:moveTo>
                    <a:pt x="32031" y="0"/>
                  </a:moveTo>
                  <a:lnTo>
                    <a:pt x="3214505" y="0"/>
                  </a:lnTo>
                  <a:cubicBezTo>
                    <a:pt x="3232195" y="0"/>
                    <a:pt x="3246536" y="14341"/>
                    <a:pt x="3246536" y="32031"/>
                  </a:cubicBezTo>
                  <a:lnTo>
                    <a:pt x="3246536" y="656082"/>
                  </a:lnTo>
                  <a:cubicBezTo>
                    <a:pt x="3246536" y="673772"/>
                    <a:pt x="3232195" y="688113"/>
                    <a:pt x="3214505" y="688113"/>
                  </a:cubicBezTo>
                  <a:lnTo>
                    <a:pt x="32031" y="688113"/>
                  </a:lnTo>
                  <a:cubicBezTo>
                    <a:pt x="14341" y="688113"/>
                    <a:pt x="0" y="673772"/>
                    <a:pt x="0" y="656082"/>
                  </a:cubicBezTo>
                  <a:lnTo>
                    <a:pt x="0" y="32031"/>
                  </a:lnTo>
                  <a:cubicBezTo>
                    <a:pt x="0" y="14341"/>
                    <a:pt x="14341" y="0"/>
                    <a:pt x="32031" y="0"/>
                  </a:cubicBezTo>
                  <a:close/>
                </a:path>
              </a:pathLst>
            </a:custGeom>
            <a:gradFill rotWithShape="true">
              <a:gsLst>
                <a:gs pos="0">
                  <a:srgbClr val="000000">
                    <a:alpha val="100000"/>
                  </a:srgbClr>
                </a:gs>
                <a:gs pos="100000">
                  <a:srgbClr val="737373">
                    <a:alpha val="100000"/>
                  </a:srgbClr>
                </a:gs>
              </a:gsLst>
              <a:lin ang="0"/>
            </a:gradFill>
            <a:ln cap="rnd">
              <a:noFill/>
              <a:prstDash val="solid"/>
              <a:round/>
            </a:ln>
          </p:spPr>
        </p:sp>
        <p:sp>
          <p:nvSpPr>
            <p:cNvPr name="TextBox 19" id="19"/>
            <p:cNvSpPr txBox="true"/>
            <p:nvPr/>
          </p:nvSpPr>
          <p:spPr>
            <a:xfrm>
              <a:off x="0" y="-38100"/>
              <a:ext cx="3246536" cy="726213"/>
            </a:xfrm>
            <a:prstGeom prst="rect">
              <a:avLst/>
            </a:prstGeom>
          </p:spPr>
          <p:txBody>
            <a:bodyPr anchor="ctr" rtlCol="false" tIns="50800" lIns="50800" bIns="50800" rIns="50800"/>
            <a:lstStyle/>
            <a:p>
              <a:pPr algn="ctr">
                <a:lnSpc>
                  <a:spcPts val="2659"/>
                </a:lnSpc>
              </a:pPr>
            </a:p>
          </p:txBody>
        </p:sp>
      </p:grpSp>
      <p:grpSp>
        <p:nvGrpSpPr>
          <p:cNvPr name="Group 20" id="20"/>
          <p:cNvGrpSpPr/>
          <p:nvPr/>
        </p:nvGrpSpPr>
        <p:grpSpPr>
          <a:xfrm rot="0">
            <a:off x="2980654" y="3778106"/>
            <a:ext cx="12326692" cy="2450916"/>
            <a:chOff x="0" y="0"/>
            <a:chExt cx="3246536" cy="645509"/>
          </a:xfrm>
        </p:grpSpPr>
        <p:sp>
          <p:nvSpPr>
            <p:cNvPr name="Freeform 21" id="21"/>
            <p:cNvSpPr/>
            <p:nvPr/>
          </p:nvSpPr>
          <p:spPr>
            <a:xfrm flipH="false" flipV="false" rot="0">
              <a:off x="0" y="0"/>
              <a:ext cx="3246536" cy="645509"/>
            </a:xfrm>
            <a:custGeom>
              <a:avLst/>
              <a:gdLst/>
              <a:ahLst/>
              <a:cxnLst/>
              <a:rect r="r" b="b" t="t" l="l"/>
              <a:pathLst>
                <a:path h="645509" w="3246536">
                  <a:moveTo>
                    <a:pt x="32031" y="0"/>
                  </a:moveTo>
                  <a:lnTo>
                    <a:pt x="3214505" y="0"/>
                  </a:lnTo>
                  <a:cubicBezTo>
                    <a:pt x="3232195" y="0"/>
                    <a:pt x="3246536" y="14341"/>
                    <a:pt x="3246536" y="32031"/>
                  </a:cubicBezTo>
                  <a:lnTo>
                    <a:pt x="3246536" y="613478"/>
                  </a:lnTo>
                  <a:cubicBezTo>
                    <a:pt x="3246536" y="631168"/>
                    <a:pt x="3232195" y="645509"/>
                    <a:pt x="3214505" y="645509"/>
                  </a:cubicBezTo>
                  <a:lnTo>
                    <a:pt x="32031" y="645509"/>
                  </a:lnTo>
                  <a:cubicBezTo>
                    <a:pt x="14341" y="645509"/>
                    <a:pt x="0" y="631168"/>
                    <a:pt x="0" y="613478"/>
                  </a:cubicBezTo>
                  <a:lnTo>
                    <a:pt x="0" y="32031"/>
                  </a:lnTo>
                  <a:cubicBezTo>
                    <a:pt x="0" y="14341"/>
                    <a:pt x="14341" y="0"/>
                    <a:pt x="32031" y="0"/>
                  </a:cubicBezTo>
                  <a:close/>
                </a:path>
              </a:pathLst>
            </a:custGeom>
            <a:solidFill>
              <a:srgbClr val="D9D9D9"/>
            </a:solidFill>
            <a:ln w="38100" cap="rnd">
              <a:solidFill>
                <a:srgbClr val="000000"/>
              </a:solidFill>
              <a:prstDash val="solid"/>
              <a:round/>
            </a:ln>
          </p:spPr>
        </p:sp>
        <p:sp>
          <p:nvSpPr>
            <p:cNvPr name="TextBox 22" id="22"/>
            <p:cNvSpPr txBox="true"/>
            <p:nvPr/>
          </p:nvSpPr>
          <p:spPr>
            <a:xfrm>
              <a:off x="0" y="-38100"/>
              <a:ext cx="3246536" cy="683609"/>
            </a:xfrm>
            <a:prstGeom prst="rect">
              <a:avLst/>
            </a:prstGeom>
          </p:spPr>
          <p:txBody>
            <a:bodyPr anchor="ctr" rtlCol="false" tIns="50800" lIns="50800" bIns="50800" rIns="50800"/>
            <a:lstStyle/>
            <a:p>
              <a:pPr algn="ctr">
                <a:lnSpc>
                  <a:spcPts val="2659"/>
                </a:lnSpc>
              </a:pPr>
            </a:p>
          </p:txBody>
        </p:sp>
      </p:grpSp>
      <p:sp>
        <p:nvSpPr>
          <p:cNvPr name="AutoShape 23" id="23"/>
          <p:cNvSpPr/>
          <p:nvPr/>
        </p:nvSpPr>
        <p:spPr>
          <a:xfrm>
            <a:off x="3647227" y="4521801"/>
            <a:ext cx="11157898" cy="0"/>
          </a:xfrm>
          <a:prstGeom prst="line">
            <a:avLst/>
          </a:prstGeom>
          <a:ln cap="flat" w="38100">
            <a:solidFill>
              <a:srgbClr val="000000"/>
            </a:solidFill>
            <a:prstDash val="solid"/>
            <a:headEnd type="none" len="sm" w="sm"/>
            <a:tailEnd type="none" len="sm" w="sm"/>
          </a:ln>
        </p:spPr>
      </p:sp>
      <p:grpSp>
        <p:nvGrpSpPr>
          <p:cNvPr name="Group 24" id="24"/>
          <p:cNvGrpSpPr/>
          <p:nvPr/>
        </p:nvGrpSpPr>
        <p:grpSpPr>
          <a:xfrm rot="0">
            <a:off x="2980654" y="6533659"/>
            <a:ext cx="12326692" cy="2612678"/>
            <a:chOff x="0" y="0"/>
            <a:chExt cx="3246536" cy="688113"/>
          </a:xfrm>
        </p:grpSpPr>
        <p:sp>
          <p:nvSpPr>
            <p:cNvPr name="Freeform 25" id="25"/>
            <p:cNvSpPr/>
            <p:nvPr/>
          </p:nvSpPr>
          <p:spPr>
            <a:xfrm flipH="false" flipV="false" rot="0">
              <a:off x="0" y="0"/>
              <a:ext cx="3246536" cy="688113"/>
            </a:xfrm>
            <a:custGeom>
              <a:avLst/>
              <a:gdLst/>
              <a:ahLst/>
              <a:cxnLst/>
              <a:rect r="r" b="b" t="t" l="l"/>
              <a:pathLst>
                <a:path h="688113" w="3246536">
                  <a:moveTo>
                    <a:pt x="32031" y="0"/>
                  </a:moveTo>
                  <a:lnTo>
                    <a:pt x="3214505" y="0"/>
                  </a:lnTo>
                  <a:cubicBezTo>
                    <a:pt x="3232195" y="0"/>
                    <a:pt x="3246536" y="14341"/>
                    <a:pt x="3246536" y="32031"/>
                  </a:cubicBezTo>
                  <a:lnTo>
                    <a:pt x="3246536" y="656082"/>
                  </a:lnTo>
                  <a:cubicBezTo>
                    <a:pt x="3246536" y="673772"/>
                    <a:pt x="3232195" y="688113"/>
                    <a:pt x="3214505" y="688113"/>
                  </a:cubicBezTo>
                  <a:lnTo>
                    <a:pt x="32031" y="688113"/>
                  </a:lnTo>
                  <a:cubicBezTo>
                    <a:pt x="14341" y="688113"/>
                    <a:pt x="0" y="673772"/>
                    <a:pt x="0" y="656082"/>
                  </a:cubicBezTo>
                  <a:lnTo>
                    <a:pt x="0" y="32031"/>
                  </a:lnTo>
                  <a:cubicBezTo>
                    <a:pt x="0" y="14341"/>
                    <a:pt x="14341" y="0"/>
                    <a:pt x="32031" y="0"/>
                  </a:cubicBezTo>
                  <a:close/>
                </a:path>
              </a:pathLst>
            </a:custGeom>
            <a:gradFill rotWithShape="true">
              <a:gsLst>
                <a:gs pos="0">
                  <a:srgbClr val="000000">
                    <a:alpha val="100000"/>
                  </a:srgbClr>
                </a:gs>
                <a:gs pos="100000">
                  <a:srgbClr val="737373">
                    <a:alpha val="100000"/>
                  </a:srgbClr>
                </a:gs>
              </a:gsLst>
              <a:lin ang="0"/>
            </a:gradFill>
            <a:ln cap="rnd">
              <a:noFill/>
              <a:prstDash val="solid"/>
              <a:round/>
            </a:ln>
          </p:spPr>
        </p:sp>
        <p:sp>
          <p:nvSpPr>
            <p:cNvPr name="TextBox 26" id="26"/>
            <p:cNvSpPr txBox="true"/>
            <p:nvPr/>
          </p:nvSpPr>
          <p:spPr>
            <a:xfrm>
              <a:off x="0" y="-38100"/>
              <a:ext cx="3246536" cy="726213"/>
            </a:xfrm>
            <a:prstGeom prst="rect">
              <a:avLst/>
            </a:prstGeom>
          </p:spPr>
          <p:txBody>
            <a:bodyPr anchor="ctr" rtlCol="false" tIns="50800" lIns="50800" bIns="50800" rIns="50800"/>
            <a:lstStyle/>
            <a:p>
              <a:pPr algn="ctr">
                <a:lnSpc>
                  <a:spcPts val="2659"/>
                </a:lnSpc>
              </a:pPr>
            </a:p>
          </p:txBody>
        </p:sp>
      </p:grpSp>
      <p:grpSp>
        <p:nvGrpSpPr>
          <p:cNvPr name="Group 27" id="27"/>
          <p:cNvGrpSpPr/>
          <p:nvPr/>
        </p:nvGrpSpPr>
        <p:grpSpPr>
          <a:xfrm rot="0">
            <a:off x="2980654" y="6533659"/>
            <a:ext cx="12326692" cy="2450916"/>
            <a:chOff x="0" y="0"/>
            <a:chExt cx="3246536" cy="645509"/>
          </a:xfrm>
        </p:grpSpPr>
        <p:sp>
          <p:nvSpPr>
            <p:cNvPr name="Freeform 28" id="28"/>
            <p:cNvSpPr/>
            <p:nvPr/>
          </p:nvSpPr>
          <p:spPr>
            <a:xfrm flipH="false" flipV="false" rot="0">
              <a:off x="0" y="0"/>
              <a:ext cx="3246536" cy="645509"/>
            </a:xfrm>
            <a:custGeom>
              <a:avLst/>
              <a:gdLst/>
              <a:ahLst/>
              <a:cxnLst/>
              <a:rect r="r" b="b" t="t" l="l"/>
              <a:pathLst>
                <a:path h="645509" w="3246536">
                  <a:moveTo>
                    <a:pt x="32031" y="0"/>
                  </a:moveTo>
                  <a:lnTo>
                    <a:pt x="3214505" y="0"/>
                  </a:lnTo>
                  <a:cubicBezTo>
                    <a:pt x="3232195" y="0"/>
                    <a:pt x="3246536" y="14341"/>
                    <a:pt x="3246536" y="32031"/>
                  </a:cubicBezTo>
                  <a:lnTo>
                    <a:pt x="3246536" y="613478"/>
                  </a:lnTo>
                  <a:cubicBezTo>
                    <a:pt x="3246536" y="631168"/>
                    <a:pt x="3232195" y="645509"/>
                    <a:pt x="3214505" y="645509"/>
                  </a:cubicBezTo>
                  <a:lnTo>
                    <a:pt x="32031" y="645509"/>
                  </a:lnTo>
                  <a:cubicBezTo>
                    <a:pt x="14341" y="645509"/>
                    <a:pt x="0" y="631168"/>
                    <a:pt x="0" y="613478"/>
                  </a:cubicBezTo>
                  <a:lnTo>
                    <a:pt x="0" y="32031"/>
                  </a:lnTo>
                  <a:cubicBezTo>
                    <a:pt x="0" y="14341"/>
                    <a:pt x="14341" y="0"/>
                    <a:pt x="32031" y="0"/>
                  </a:cubicBezTo>
                  <a:close/>
                </a:path>
              </a:pathLst>
            </a:custGeom>
            <a:solidFill>
              <a:srgbClr val="D9D9D9"/>
            </a:solidFill>
            <a:ln w="38100" cap="rnd">
              <a:solidFill>
                <a:srgbClr val="000000"/>
              </a:solidFill>
              <a:prstDash val="solid"/>
              <a:round/>
            </a:ln>
          </p:spPr>
        </p:sp>
        <p:sp>
          <p:nvSpPr>
            <p:cNvPr name="TextBox 29" id="29"/>
            <p:cNvSpPr txBox="true"/>
            <p:nvPr/>
          </p:nvSpPr>
          <p:spPr>
            <a:xfrm>
              <a:off x="0" y="-38100"/>
              <a:ext cx="3246536" cy="683609"/>
            </a:xfrm>
            <a:prstGeom prst="rect">
              <a:avLst/>
            </a:prstGeom>
          </p:spPr>
          <p:txBody>
            <a:bodyPr anchor="ctr" rtlCol="false" tIns="50800" lIns="50800" bIns="50800" rIns="50800"/>
            <a:lstStyle/>
            <a:p>
              <a:pPr algn="ctr">
                <a:lnSpc>
                  <a:spcPts val="2659"/>
                </a:lnSpc>
              </a:pPr>
            </a:p>
          </p:txBody>
        </p:sp>
      </p:grpSp>
      <p:sp>
        <p:nvSpPr>
          <p:cNvPr name="AutoShape 30" id="30"/>
          <p:cNvSpPr/>
          <p:nvPr/>
        </p:nvSpPr>
        <p:spPr>
          <a:xfrm>
            <a:off x="3647227" y="7277354"/>
            <a:ext cx="11157898" cy="0"/>
          </a:xfrm>
          <a:prstGeom prst="line">
            <a:avLst/>
          </a:prstGeom>
          <a:ln cap="flat" w="38100">
            <a:solidFill>
              <a:srgbClr val="000000"/>
            </a:solidFill>
            <a:prstDash val="solid"/>
            <a:headEnd type="none" len="sm" w="sm"/>
            <a:tailEnd type="none" len="sm" w="sm"/>
          </a:ln>
        </p:spPr>
      </p:sp>
      <p:grpSp>
        <p:nvGrpSpPr>
          <p:cNvPr name="Group 31" id="31"/>
          <p:cNvGrpSpPr/>
          <p:nvPr/>
        </p:nvGrpSpPr>
        <p:grpSpPr>
          <a:xfrm rot="0">
            <a:off x="5577407" y="1071443"/>
            <a:ext cx="787060" cy="653207"/>
            <a:chOff x="0" y="0"/>
            <a:chExt cx="121936" cy="101199"/>
          </a:xfrm>
        </p:grpSpPr>
        <p:sp>
          <p:nvSpPr>
            <p:cNvPr name="Freeform 32" id="32"/>
            <p:cNvSpPr/>
            <p:nvPr/>
          </p:nvSpPr>
          <p:spPr>
            <a:xfrm flipH="false" flipV="false" rot="0">
              <a:off x="0" y="0"/>
              <a:ext cx="121936" cy="101199"/>
            </a:xfrm>
            <a:custGeom>
              <a:avLst/>
              <a:gdLst/>
              <a:ahLst/>
              <a:cxnLst/>
              <a:rect r="r" b="b" t="t" l="l"/>
              <a:pathLst>
                <a:path h="101199" w="121936">
                  <a:moveTo>
                    <a:pt x="0" y="0"/>
                  </a:moveTo>
                  <a:lnTo>
                    <a:pt x="121936" y="0"/>
                  </a:lnTo>
                  <a:lnTo>
                    <a:pt x="121936" y="101199"/>
                  </a:lnTo>
                  <a:lnTo>
                    <a:pt x="0" y="101199"/>
                  </a:lnTo>
                  <a:close/>
                </a:path>
              </a:pathLst>
            </a:custGeom>
            <a:blipFill>
              <a:blip r:embed="rId6"/>
              <a:stretch>
                <a:fillRect l="0" t="-1839" r="0" b="-1839"/>
              </a:stretch>
            </a:blipFill>
          </p:spPr>
        </p:sp>
      </p:grpSp>
      <p:grpSp>
        <p:nvGrpSpPr>
          <p:cNvPr name="Group 33" id="33"/>
          <p:cNvGrpSpPr/>
          <p:nvPr/>
        </p:nvGrpSpPr>
        <p:grpSpPr>
          <a:xfrm rot="0">
            <a:off x="5577407" y="3832875"/>
            <a:ext cx="787060" cy="653207"/>
            <a:chOff x="0" y="0"/>
            <a:chExt cx="121936" cy="101199"/>
          </a:xfrm>
        </p:grpSpPr>
        <p:sp>
          <p:nvSpPr>
            <p:cNvPr name="Freeform 34" id="34"/>
            <p:cNvSpPr/>
            <p:nvPr/>
          </p:nvSpPr>
          <p:spPr>
            <a:xfrm flipH="false" flipV="false" rot="0">
              <a:off x="0" y="0"/>
              <a:ext cx="121936" cy="101199"/>
            </a:xfrm>
            <a:custGeom>
              <a:avLst/>
              <a:gdLst/>
              <a:ahLst/>
              <a:cxnLst/>
              <a:rect r="r" b="b" t="t" l="l"/>
              <a:pathLst>
                <a:path h="101199" w="121936">
                  <a:moveTo>
                    <a:pt x="0" y="0"/>
                  </a:moveTo>
                  <a:lnTo>
                    <a:pt x="121936" y="0"/>
                  </a:lnTo>
                  <a:lnTo>
                    <a:pt x="121936" y="101199"/>
                  </a:lnTo>
                  <a:lnTo>
                    <a:pt x="0" y="101199"/>
                  </a:lnTo>
                  <a:close/>
                </a:path>
              </a:pathLst>
            </a:custGeom>
            <a:blipFill>
              <a:blip r:embed="rId7"/>
              <a:stretch>
                <a:fillRect l="0" t="-3073" r="0" b="-3073"/>
              </a:stretch>
            </a:blipFill>
          </p:spPr>
        </p:sp>
      </p:grpSp>
      <p:grpSp>
        <p:nvGrpSpPr>
          <p:cNvPr name="Group 35" id="35"/>
          <p:cNvGrpSpPr/>
          <p:nvPr/>
        </p:nvGrpSpPr>
        <p:grpSpPr>
          <a:xfrm rot="0">
            <a:off x="5577407" y="6582549"/>
            <a:ext cx="787060" cy="653207"/>
            <a:chOff x="0" y="0"/>
            <a:chExt cx="121936" cy="101199"/>
          </a:xfrm>
        </p:grpSpPr>
        <p:sp>
          <p:nvSpPr>
            <p:cNvPr name="Freeform 36" id="36"/>
            <p:cNvSpPr/>
            <p:nvPr/>
          </p:nvSpPr>
          <p:spPr>
            <a:xfrm flipH="false" flipV="false" rot="0">
              <a:off x="0" y="0"/>
              <a:ext cx="121936" cy="101199"/>
            </a:xfrm>
            <a:custGeom>
              <a:avLst/>
              <a:gdLst/>
              <a:ahLst/>
              <a:cxnLst/>
              <a:rect r="r" b="b" t="t" l="l"/>
              <a:pathLst>
                <a:path h="101199" w="121936">
                  <a:moveTo>
                    <a:pt x="0" y="0"/>
                  </a:moveTo>
                  <a:lnTo>
                    <a:pt x="121936" y="0"/>
                  </a:lnTo>
                  <a:lnTo>
                    <a:pt x="121936" y="101199"/>
                  </a:lnTo>
                  <a:lnTo>
                    <a:pt x="0" y="101199"/>
                  </a:lnTo>
                  <a:close/>
                </a:path>
              </a:pathLst>
            </a:custGeom>
            <a:blipFill>
              <a:blip r:embed="rId8"/>
              <a:stretch>
                <a:fillRect l="0" t="-10245" r="0" b="-10245"/>
              </a:stretch>
            </a:blipFill>
          </p:spPr>
        </p:sp>
      </p:grpSp>
      <p:sp>
        <p:nvSpPr>
          <p:cNvPr name="TextBox 37" id="37"/>
          <p:cNvSpPr txBox="true"/>
          <p:nvPr/>
        </p:nvSpPr>
        <p:spPr>
          <a:xfrm rot="0">
            <a:off x="1028700" y="219075"/>
            <a:ext cx="14168470" cy="691515"/>
          </a:xfrm>
          <a:prstGeom prst="rect">
            <a:avLst/>
          </a:prstGeom>
        </p:spPr>
        <p:txBody>
          <a:bodyPr anchor="t" rtlCol="false" tIns="0" lIns="0" bIns="0" rIns="0">
            <a:spAutoFit/>
          </a:bodyPr>
          <a:lstStyle/>
          <a:p>
            <a:pPr algn="l">
              <a:lnSpc>
                <a:spcPts val="4980"/>
              </a:lnSpc>
            </a:pPr>
            <a:r>
              <a:rPr lang="en-US" sz="6000" b="true">
                <a:solidFill>
                  <a:srgbClr val="001E3A"/>
                </a:solidFill>
                <a:latin typeface="Garet Ultra-Bold"/>
                <a:ea typeface="Garet Ultra-Bold"/>
                <a:cs typeface="Garet Ultra-Bold"/>
                <a:sym typeface="Garet Ultra-Bold"/>
              </a:rPr>
              <a:t>Công nghệ sử dụng</a:t>
            </a:r>
          </a:p>
        </p:txBody>
      </p:sp>
      <p:sp>
        <p:nvSpPr>
          <p:cNvPr name="TextBox 38" id="38"/>
          <p:cNvSpPr txBox="true"/>
          <p:nvPr/>
        </p:nvSpPr>
        <p:spPr>
          <a:xfrm rot="0">
            <a:off x="3289636" y="1890073"/>
            <a:ext cx="11708728" cy="1458595"/>
          </a:xfrm>
          <a:prstGeom prst="rect">
            <a:avLst/>
          </a:prstGeom>
        </p:spPr>
        <p:txBody>
          <a:bodyPr anchor="t" rtlCol="false" tIns="0" lIns="0" bIns="0" rIns="0">
            <a:spAutoFit/>
          </a:bodyPr>
          <a:lstStyle/>
          <a:p>
            <a:pPr algn="ctr">
              <a:lnSpc>
                <a:spcPts val="3359"/>
              </a:lnSpc>
            </a:pPr>
            <a:r>
              <a:rPr lang="en-US" sz="2399">
                <a:solidFill>
                  <a:srgbClr val="001E3A"/>
                </a:solidFill>
                <a:latin typeface="Garet"/>
                <a:ea typeface="Garet"/>
                <a:cs typeface="Garet"/>
                <a:sym typeface="Garet"/>
              </a:rPr>
              <a:t>Blade, Tailwind CSS, Alpine.js</a:t>
            </a:r>
          </a:p>
          <a:p>
            <a:pPr algn="l">
              <a:lnSpc>
                <a:spcPts val="2800"/>
              </a:lnSpc>
            </a:pPr>
            <a:r>
              <a:rPr lang="en-US" sz="2000" b="true">
                <a:solidFill>
                  <a:srgbClr val="001E3A"/>
                </a:solidFill>
                <a:latin typeface="Garet Bold"/>
                <a:ea typeface="Garet Bold"/>
                <a:cs typeface="Garet Bold"/>
                <a:sym typeface="Garet Bold"/>
              </a:rPr>
              <a:t>Lý do:</a:t>
            </a:r>
            <a:r>
              <a:rPr lang="en-US" sz="2000">
                <a:solidFill>
                  <a:srgbClr val="001E3A"/>
                </a:solidFill>
                <a:latin typeface="Garet"/>
                <a:ea typeface="Garet"/>
                <a:cs typeface="Garet"/>
                <a:sym typeface="Garet"/>
              </a:rPr>
              <a:t> Blade Template Engine cho phép tái sử dụng layout. Tailwind CSS (utility-first) giúp xây dựng giao diện responsive, hiện đại và nhất quán một cách nhanh chóng. Alpine.js xử lý các tương tác động một cách hiệu quả.</a:t>
            </a:r>
          </a:p>
        </p:txBody>
      </p:sp>
      <p:sp>
        <p:nvSpPr>
          <p:cNvPr name="TextBox 39" id="39"/>
          <p:cNvSpPr txBox="true"/>
          <p:nvPr/>
        </p:nvSpPr>
        <p:spPr>
          <a:xfrm rot="0">
            <a:off x="13691401" y="9363075"/>
            <a:ext cx="559219" cy="339215"/>
          </a:xfrm>
          <a:prstGeom prst="rect">
            <a:avLst/>
          </a:prstGeom>
        </p:spPr>
        <p:txBody>
          <a:bodyPr anchor="t" rtlCol="false" tIns="0" lIns="0" bIns="0" rIns="0">
            <a:spAutoFit/>
          </a:bodyPr>
          <a:lstStyle/>
          <a:p>
            <a:pPr algn="ctr">
              <a:lnSpc>
                <a:spcPts val="2440"/>
              </a:lnSpc>
            </a:pPr>
            <a:r>
              <a:rPr lang="en-US" sz="2940" b="true">
                <a:solidFill>
                  <a:srgbClr val="001E3A"/>
                </a:solidFill>
                <a:latin typeface="Garet Ultra-Bold"/>
                <a:ea typeface="Garet Ultra-Bold"/>
                <a:cs typeface="Garet Ultra-Bold"/>
                <a:sym typeface="Garet Ultra-Bold"/>
              </a:rPr>
              <a:t>4</a:t>
            </a:r>
          </a:p>
        </p:txBody>
      </p:sp>
      <p:sp>
        <p:nvSpPr>
          <p:cNvPr name="TextBox 40" id="40"/>
          <p:cNvSpPr txBox="true"/>
          <p:nvPr/>
        </p:nvSpPr>
        <p:spPr>
          <a:xfrm rot="0">
            <a:off x="6557650" y="1146586"/>
            <a:ext cx="6653770" cy="455295"/>
          </a:xfrm>
          <a:prstGeom prst="rect">
            <a:avLst/>
          </a:prstGeom>
        </p:spPr>
        <p:txBody>
          <a:bodyPr anchor="t" rtlCol="false" tIns="0" lIns="0" bIns="0" rIns="0">
            <a:spAutoFit/>
          </a:bodyPr>
          <a:lstStyle/>
          <a:p>
            <a:pPr algn="l">
              <a:lnSpc>
                <a:spcPts val="3779"/>
              </a:lnSpc>
            </a:pPr>
            <a:r>
              <a:rPr lang="en-US" sz="2699" b="true">
                <a:solidFill>
                  <a:srgbClr val="001E3A"/>
                </a:solidFill>
                <a:latin typeface="Garet Bold"/>
                <a:ea typeface="Garet Bold"/>
                <a:cs typeface="Garet Bold"/>
                <a:sym typeface="Garet Bold"/>
              </a:rPr>
              <a:t>Lớp Frontend (Giao diện người dùng)</a:t>
            </a:r>
          </a:p>
        </p:txBody>
      </p:sp>
      <p:sp>
        <p:nvSpPr>
          <p:cNvPr name="TextBox 41" id="41"/>
          <p:cNvSpPr txBox="true"/>
          <p:nvPr/>
        </p:nvSpPr>
        <p:spPr>
          <a:xfrm rot="0">
            <a:off x="3289636" y="4645626"/>
            <a:ext cx="11708728" cy="1432560"/>
          </a:xfrm>
          <a:prstGeom prst="rect">
            <a:avLst/>
          </a:prstGeom>
        </p:spPr>
        <p:txBody>
          <a:bodyPr anchor="t" rtlCol="false" tIns="0" lIns="0" bIns="0" rIns="0">
            <a:spAutoFit/>
          </a:bodyPr>
          <a:lstStyle/>
          <a:p>
            <a:pPr algn="ctr">
              <a:lnSpc>
                <a:spcPts val="3079"/>
              </a:lnSpc>
            </a:pPr>
            <a:r>
              <a:rPr lang="en-US" sz="2199">
                <a:solidFill>
                  <a:srgbClr val="001E3A"/>
                </a:solidFill>
                <a:latin typeface="Garet"/>
                <a:ea typeface="Garet"/>
                <a:cs typeface="Garet"/>
                <a:sym typeface="Garet"/>
              </a:rPr>
              <a:t>Laravel Framework</a:t>
            </a:r>
          </a:p>
          <a:p>
            <a:pPr algn="just">
              <a:lnSpc>
                <a:spcPts val="2800"/>
              </a:lnSpc>
            </a:pPr>
            <a:r>
              <a:rPr lang="en-US" sz="2000" b="true">
                <a:solidFill>
                  <a:srgbClr val="001E3A"/>
                </a:solidFill>
                <a:latin typeface="Garet Bold"/>
                <a:ea typeface="Garet Bold"/>
                <a:cs typeface="Garet Bold"/>
                <a:sym typeface="Garet Bold"/>
              </a:rPr>
              <a:t>Lý do:</a:t>
            </a:r>
            <a:r>
              <a:rPr lang="en-US" sz="2000">
                <a:solidFill>
                  <a:srgbClr val="001E3A"/>
                </a:solidFill>
                <a:latin typeface="Garet"/>
                <a:ea typeface="Garet"/>
                <a:cs typeface="Garet"/>
                <a:sym typeface="Garet"/>
              </a:rPr>
              <a:t> Kiển trúc MVC (Model-View-Controller) mạnh mẽ, giúp mã nguồn dể bảo trì và</a:t>
            </a:r>
          </a:p>
          <a:p>
            <a:pPr algn="just">
              <a:lnSpc>
                <a:spcPts val="2800"/>
              </a:lnSpc>
            </a:pPr>
            <a:r>
              <a:rPr lang="en-US" sz="2000">
                <a:solidFill>
                  <a:srgbClr val="001E3A"/>
                </a:solidFill>
                <a:latin typeface="Garet"/>
                <a:ea typeface="Garet"/>
                <a:cs typeface="Garet"/>
                <a:sym typeface="Garet"/>
              </a:rPr>
              <a:t>mở rộng. Cung cấp các cơ chế bảo mật tích hợp sản (chóng XSS, CSRF, SQL Injection).</a:t>
            </a:r>
          </a:p>
          <a:p>
            <a:pPr algn="just">
              <a:lnSpc>
                <a:spcPts val="2800"/>
              </a:lnSpc>
            </a:pPr>
            <a:r>
              <a:rPr lang="en-US" sz="2000">
                <a:solidFill>
                  <a:srgbClr val="001E3A"/>
                </a:solidFill>
                <a:latin typeface="Garet"/>
                <a:ea typeface="Garet"/>
                <a:cs typeface="Garet"/>
                <a:sym typeface="Garet"/>
              </a:rPr>
              <a:t>Hệ sinh thái phong phú với các gói (packages) hỏ trợ.</a:t>
            </a:r>
          </a:p>
        </p:txBody>
      </p:sp>
      <p:sp>
        <p:nvSpPr>
          <p:cNvPr name="TextBox 42" id="42"/>
          <p:cNvSpPr txBox="true"/>
          <p:nvPr/>
        </p:nvSpPr>
        <p:spPr>
          <a:xfrm rot="0">
            <a:off x="6557650" y="3902139"/>
            <a:ext cx="4786333" cy="455295"/>
          </a:xfrm>
          <a:prstGeom prst="rect">
            <a:avLst/>
          </a:prstGeom>
        </p:spPr>
        <p:txBody>
          <a:bodyPr anchor="t" rtlCol="false" tIns="0" lIns="0" bIns="0" rIns="0">
            <a:spAutoFit/>
          </a:bodyPr>
          <a:lstStyle/>
          <a:p>
            <a:pPr algn="l">
              <a:lnSpc>
                <a:spcPts val="3779"/>
              </a:lnSpc>
            </a:pPr>
            <a:r>
              <a:rPr lang="en-US" sz="2699" b="true">
                <a:solidFill>
                  <a:srgbClr val="001E3A"/>
                </a:solidFill>
                <a:latin typeface="Garet Bold"/>
                <a:ea typeface="Garet Bold"/>
                <a:cs typeface="Garet Bold"/>
                <a:sym typeface="Garet Bold"/>
              </a:rPr>
              <a:t>Lớp Backend (Xử lý logic)</a:t>
            </a:r>
          </a:p>
        </p:txBody>
      </p:sp>
      <p:sp>
        <p:nvSpPr>
          <p:cNvPr name="TextBox 43" id="43"/>
          <p:cNvSpPr txBox="true"/>
          <p:nvPr/>
        </p:nvSpPr>
        <p:spPr>
          <a:xfrm rot="0">
            <a:off x="3289636" y="7401179"/>
            <a:ext cx="11708728" cy="1080135"/>
          </a:xfrm>
          <a:prstGeom prst="rect">
            <a:avLst/>
          </a:prstGeom>
        </p:spPr>
        <p:txBody>
          <a:bodyPr anchor="t" rtlCol="false" tIns="0" lIns="0" bIns="0" rIns="0">
            <a:spAutoFit/>
          </a:bodyPr>
          <a:lstStyle/>
          <a:p>
            <a:pPr algn="ctr">
              <a:lnSpc>
                <a:spcPts val="3079"/>
              </a:lnSpc>
            </a:pPr>
            <a:r>
              <a:rPr lang="en-US" sz="2199">
                <a:solidFill>
                  <a:srgbClr val="001E3A"/>
                </a:solidFill>
                <a:latin typeface="Garet"/>
                <a:ea typeface="Garet"/>
                <a:cs typeface="Garet"/>
                <a:sym typeface="Garet"/>
              </a:rPr>
              <a:t>MySQL</a:t>
            </a:r>
          </a:p>
          <a:p>
            <a:pPr algn="just">
              <a:lnSpc>
                <a:spcPts val="2800"/>
              </a:lnSpc>
            </a:pPr>
            <a:r>
              <a:rPr lang="en-US" sz="2000" b="true">
                <a:solidFill>
                  <a:srgbClr val="001E3A"/>
                </a:solidFill>
                <a:latin typeface="Garet Bold"/>
                <a:ea typeface="Garet Bold"/>
                <a:cs typeface="Garet Bold"/>
                <a:sym typeface="Garet Bold"/>
              </a:rPr>
              <a:t>Lý do:</a:t>
            </a:r>
            <a:r>
              <a:rPr lang="en-US" sz="2000">
                <a:solidFill>
                  <a:srgbClr val="001E3A"/>
                </a:solidFill>
                <a:latin typeface="Garet"/>
                <a:ea typeface="Garet"/>
                <a:cs typeface="Garet"/>
                <a:sym typeface="Garet"/>
              </a:rPr>
              <a:t> Hiệu năng ồn định, phổ biến và có cộng đồng hỗ trợ lớn. Tương thích hoàn hảo với</a:t>
            </a:r>
          </a:p>
          <a:p>
            <a:pPr algn="just">
              <a:lnSpc>
                <a:spcPts val="2800"/>
              </a:lnSpc>
            </a:pPr>
            <a:r>
              <a:rPr lang="en-US" sz="2000">
                <a:solidFill>
                  <a:srgbClr val="001E3A"/>
                </a:solidFill>
                <a:latin typeface="Garet"/>
                <a:ea typeface="Garet"/>
                <a:cs typeface="Garet"/>
                <a:sym typeface="Garet"/>
              </a:rPr>
              <a:t>Laravel Eloquent ORM, giúp tương tác với cơ sở dữ liệu an toàn và linh hoạt.</a:t>
            </a:r>
          </a:p>
        </p:txBody>
      </p:sp>
      <p:sp>
        <p:nvSpPr>
          <p:cNvPr name="TextBox 44" id="44"/>
          <p:cNvSpPr txBox="true"/>
          <p:nvPr/>
        </p:nvSpPr>
        <p:spPr>
          <a:xfrm rot="0">
            <a:off x="6557650" y="6657692"/>
            <a:ext cx="5446376" cy="455295"/>
          </a:xfrm>
          <a:prstGeom prst="rect">
            <a:avLst/>
          </a:prstGeom>
        </p:spPr>
        <p:txBody>
          <a:bodyPr anchor="t" rtlCol="false" tIns="0" lIns="0" bIns="0" rIns="0">
            <a:spAutoFit/>
          </a:bodyPr>
          <a:lstStyle/>
          <a:p>
            <a:pPr algn="l">
              <a:lnSpc>
                <a:spcPts val="3779"/>
              </a:lnSpc>
            </a:pPr>
            <a:r>
              <a:rPr lang="en-US" sz="2699" b="true">
                <a:solidFill>
                  <a:srgbClr val="001E3A"/>
                </a:solidFill>
                <a:latin typeface="Garet Bold"/>
                <a:ea typeface="Garet Bold"/>
                <a:cs typeface="Garet Bold"/>
                <a:sym typeface="Garet Bold"/>
              </a:rPr>
              <a:t>Lớp Database (Cơ sở dữ liệu)</a:t>
            </a:r>
          </a:p>
        </p:txBody>
      </p:sp>
      <p:sp>
        <p:nvSpPr>
          <p:cNvPr name="TextBox 45" id="45"/>
          <p:cNvSpPr txBox="true"/>
          <p:nvPr/>
        </p:nvSpPr>
        <p:spPr>
          <a:xfrm rot="0">
            <a:off x="14457899" y="9278166"/>
            <a:ext cx="3008680" cy="356632"/>
          </a:xfrm>
          <a:prstGeom prst="rect">
            <a:avLst/>
          </a:prstGeom>
        </p:spPr>
        <p:txBody>
          <a:bodyPr anchor="t" rtlCol="false" tIns="0" lIns="0" bIns="0" rIns="0">
            <a:spAutoFit/>
          </a:bodyPr>
          <a:lstStyle/>
          <a:p>
            <a:pPr algn="l">
              <a:lnSpc>
                <a:spcPts val="2918"/>
              </a:lnSpc>
            </a:pPr>
            <a:r>
              <a:rPr lang="en-US" sz="2084" b="true">
                <a:solidFill>
                  <a:srgbClr val="001E3A"/>
                </a:solidFill>
                <a:latin typeface="Garet Bold"/>
                <a:ea typeface="Garet Bold"/>
                <a:cs typeface="Garet Bold"/>
                <a:sym typeface="Garet Bold"/>
              </a:rPr>
              <a:t>VPP ONLINE</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5F1E9"/>
        </a:solidFill>
      </p:bgPr>
    </p:bg>
    <p:spTree>
      <p:nvGrpSpPr>
        <p:cNvPr id="1" name=""/>
        <p:cNvGrpSpPr/>
        <p:nvPr/>
      </p:nvGrpSpPr>
      <p:grpSpPr>
        <a:xfrm>
          <a:off x="0" y="0"/>
          <a:ext cx="0" cy="0"/>
          <a:chOff x="0" y="0"/>
          <a:chExt cx="0" cy="0"/>
        </a:xfrm>
      </p:grpSpPr>
      <p:grpSp>
        <p:nvGrpSpPr>
          <p:cNvPr name="Group 2" id="2"/>
          <p:cNvGrpSpPr/>
          <p:nvPr/>
        </p:nvGrpSpPr>
        <p:grpSpPr>
          <a:xfrm rot="0">
            <a:off x="15754960" y="-3612361"/>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698467" y="8274858"/>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070694" y="-1732638"/>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648153" y="2408149"/>
            <a:ext cx="8949046" cy="6614750"/>
            <a:chOff x="0" y="0"/>
            <a:chExt cx="1386441" cy="1024798"/>
          </a:xfrm>
        </p:grpSpPr>
        <p:sp>
          <p:nvSpPr>
            <p:cNvPr name="Freeform 11" id="11"/>
            <p:cNvSpPr/>
            <p:nvPr/>
          </p:nvSpPr>
          <p:spPr>
            <a:xfrm flipH="false" flipV="false" rot="0">
              <a:off x="0" y="0"/>
              <a:ext cx="1386441" cy="1024798"/>
            </a:xfrm>
            <a:custGeom>
              <a:avLst/>
              <a:gdLst/>
              <a:ahLst/>
              <a:cxnLst/>
              <a:rect r="r" b="b" t="t" l="l"/>
              <a:pathLst>
                <a:path h="1024798" w="1386441">
                  <a:moveTo>
                    <a:pt x="19898" y="0"/>
                  </a:moveTo>
                  <a:lnTo>
                    <a:pt x="1366544" y="0"/>
                  </a:lnTo>
                  <a:cubicBezTo>
                    <a:pt x="1371821" y="0"/>
                    <a:pt x="1376882" y="2096"/>
                    <a:pt x="1380614" y="5828"/>
                  </a:cubicBezTo>
                  <a:cubicBezTo>
                    <a:pt x="1384345" y="9559"/>
                    <a:pt x="1386441" y="14620"/>
                    <a:pt x="1386441" y="19898"/>
                  </a:cubicBezTo>
                  <a:lnTo>
                    <a:pt x="1386441" y="1004900"/>
                  </a:lnTo>
                  <a:cubicBezTo>
                    <a:pt x="1386441" y="1010177"/>
                    <a:pt x="1384345" y="1015239"/>
                    <a:pt x="1380614" y="1018970"/>
                  </a:cubicBezTo>
                  <a:cubicBezTo>
                    <a:pt x="1376882" y="1022702"/>
                    <a:pt x="1371821" y="1024798"/>
                    <a:pt x="1366544" y="1024798"/>
                  </a:cubicBezTo>
                  <a:lnTo>
                    <a:pt x="19898" y="1024798"/>
                  </a:lnTo>
                  <a:cubicBezTo>
                    <a:pt x="14620" y="1024798"/>
                    <a:pt x="9559" y="1022702"/>
                    <a:pt x="5828" y="1018970"/>
                  </a:cubicBezTo>
                  <a:cubicBezTo>
                    <a:pt x="2096" y="1015239"/>
                    <a:pt x="0" y="1010177"/>
                    <a:pt x="0" y="1004900"/>
                  </a:cubicBezTo>
                  <a:lnTo>
                    <a:pt x="0" y="19898"/>
                  </a:lnTo>
                  <a:cubicBezTo>
                    <a:pt x="0" y="14620"/>
                    <a:pt x="2096" y="9559"/>
                    <a:pt x="5828" y="5828"/>
                  </a:cubicBezTo>
                  <a:cubicBezTo>
                    <a:pt x="9559" y="2096"/>
                    <a:pt x="14620" y="0"/>
                    <a:pt x="19898" y="0"/>
                  </a:cubicBezTo>
                  <a:close/>
                </a:path>
              </a:pathLst>
            </a:custGeom>
            <a:blipFill>
              <a:blip r:embed="rId6"/>
              <a:stretch>
                <a:fillRect l="-119" t="0" r="-119" b="0"/>
              </a:stretch>
            </a:blipFill>
          </p:spPr>
        </p:sp>
      </p:grpSp>
      <p:grpSp>
        <p:nvGrpSpPr>
          <p:cNvPr name="Group 12" id="12"/>
          <p:cNvGrpSpPr/>
          <p:nvPr/>
        </p:nvGrpSpPr>
        <p:grpSpPr>
          <a:xfrm rot="0">
            <a:off x="9785921" y="4929710"/>
            <a:ext cx="787060" cy="636085"/>
            <a:chOff x="0" y="0"/>
            <a:chExt cx="121936" cy="98546"/>
          </a:xfrm>
        </p:grpSpPr>
        <p:sp>
          <p:nvSpPr>
            <p:cNvPr name="Freeform 13" id="13"/>
            <p:cNvSpPr/>
            <p:nvPr/>
          </p:nvSpPr>
          <p:spPr>
            <a:xfrm flipH="false" flipV="false" rot="0">
              <a:off x="0" y="0"/>
              <a:ext cx="121936" cy="98546"/>
            </a:xfrm>
            <a:custGeom>
              <a:avLst/>
              <a:gdLst/>
              <a:ahLst/>
              <a:cxnLst/>
              <a:rect r="r" b="b" t="t" l="l"/>
              <a:pathLst>
                <a:path h="98546" w="121936">
                  <a:moveTo>
                    <a:pt x="0" y="0"/>
                  </a:moveTo>
                  <a:lnTo>
                    <a:pt x="121936" y="0"/>
                  </a:lnTo>
                  <a:lnTo>
                    <a:pt x="121936" y="98546"/>
                  </a:lnTo>
                  <a:lnTo>
                    <a:pt x="0" y="98546"/>
                  </a:lnTo>
                  <a:close/>
                </a:path>
              </a:pathLst>
            </a:custGeom>
            <a:blipFill>
              <a:blip r:embed="rId7"/>
              <a:stretch>
                <a:fillRect l="0" t="-17023" r="0" b="-17023"/>
              </a:stretch>
            </a:blipFill>
          </p:spPr>
        </p:sp>
      </p:grpSp>
      <p:grpSp>
        <p:nvGrpSpPr>
          <p:cNvPr name="Group 14" id="14"/>
          <p:cNvGrpSpPr/>
          <p:nvPr/>
        </p:nvGrpSpPr>
        <p:grpSpPr>
          <a:xfrm rot="0">
            <a:off x="9785921" y="5933010"/>
            <a:ext cx="787060" cy="636085"/>
            <a:chOff x="0" y="0"/>
            <a:chExt cx="121936" cy="98546"/>
          </a:xfrm>
        </p:grpSpPr>
        <p:sp>
          <p:nvSpPr>
            <p:cNvPr name="Freeform 15" id="15"/>
            <p:cNvSpPr/>
            <p:nvPr/>
          </p:nvSpPr>
          <p:spPr>
            <a:xfrm flipH="false" flipV="false" rot="0">
              <a:off x="0" y="0"/>
              <a:ext cx="121936" cy="98546"/>
            </a:xfrm>
            <a:custGeom>
              <a:avLst/>
              <a:gdLst/>
              <a:ahLst/>
              <a:cxnLst/>
              <a:rect r="r" b="b" t="t" l="l"/>
              <a:pathLst>
                <a:path h="98546" w="121936">
                  <a:moveTo>
                    <a:pt x="0" y="0"/>
                  </a:moveTo>
                  <a:lnTo>
                    <a:pt x="121936" y="0"/>
                  </a:lnTo>
                  <a:lnTo>
                    <a:pt x="121936" y="98546"/>
                  </a:lnTo>
                  <a:lnTo>
                    <a:pt x="0" y="98546"/>
                  </a:lnTo>
                  <a:close/>
                </a:path>
              </a:pathLst>
            </a:custGeom>
            <a:blipFill>
              <a:blip r:embed="rId8"/>
              <a:stretch>
                <a:fillRect l="0" t="-10551" r="0" b="-10551"/>
              </a:stretch>
            </a:blipFill>
          </p:spPr>
        </p:sp>
      </p:grpSp>
      <p:grpSp>
        <p:nvGrpSpPr>
          <p:cNvPr name="Group 16" id="16"/>
          <p:cNvGrpSpPr/>
          <p:nvPr/>
        </p:nvGrpSpPr>
        <p:grpSpPr>
          <a:xfrm rot="0">
            <a:off x="9785921" y="6940570"/>
            <a:ext cx="787060" cy="636085"/>
            <a:chOff x="0" y="0"/>
            <a:chExt cx="121936" cy="98546"/>
          </a:xfrm>
        </p:grpSpPr>
        <p:sp>
          <p:nvSpPr>
            <p:cNvPr name="Freeform 17" id="17"/>
            <p:cNvSpPr/>
            <p:nvPr/>
          </p:nvSpPr>
          <p:spPr>
            <a:xfrm flipH="false" flipV="false" rot="0">
              <a:off x="0" y="0"/>
              <a:ext cx="121936" cy="98546"/>
            </a:xfrm>
            <a:custGeom>
              <a:avLst/>
              <a:gdLst/>
              <a:ahLst/>
              <a:cxnLst/>
              <a:rect r="r" b="b" t="t" l="l"/>
              <a:pathLst>
                <a:path h="98546" w="121936">
                  <a:moveTo>
                    <a:pt x="0" y="0"/>
                  </a:moveTo>
                  <a:lnTo>
                    <a:pt x="121936" y="0"/>
                  </a:lnTo>
                  <a:lnTo>
                    <a:pt x="121936" y="98546"/>
                  </a:lnTo>
                  <a:lnTo>
                    <a:pt x="0" y="98546"/>
                  </a:lnTo>
                  <a:close/>
                </a:path>
              </a:pathLst>
            </a:custGeom>
            <a:blipFill>
              <a:blip r:embed="rId9"/>
              <a:stretch>
                <a:fillRect l="0" t="-26520" r="0" b="-26520"/>
              </a:stretch>
            </a:blipFill>
          </p:spPr>
        </p:sp>
      </p:grpSp>
      <p:grpSp>
        <p:nvGrpSpPr>
          <p:cNvPr name="Group 18" id="18"/>
          <p:cNvGrpSpPr/>
          <p:nvPr/>
        </p:nvGrpSpPr>
        <p:grpSpPr>
          <a:xfrm rot="0">
            <a:off x="9785921" y="7956815"/>
            <a:ext cx="787060" cy="636085"/>
            <a:chOff x="0" y="0"/>
            <a:chExt cx="121936" cy="98546"/>
          </a:xfrm>
        </p:grpSpPr>
        <p:sp>
          <p:nvSpPr>
            <p:cNvPr name="Freeform 19" id="19"/>
            <p:cNvSpPr/>
            <p:nvPr/>
          </p:nvSpPr>
          <p:spPr>
            <a:xfrm flipH="false" flipV="false" rot="0">
              <a:off x="0" y="0"/>
              <a:ext cx="121936" cy="98546"/>
            </a:xfrm>
            <a:custGeom>
              <a:avLst/>
              <a:gdLst/>
              <a:ahLst/>
              <a:cxnLst/>
              <a:rect r="r" b="b" t="t" l="l"/>
              <a:pathLst>
                <a:path h="98546" w="121936">
                  <a:moveTo>
                    <a:pt x="0" y="0"/>
                  </a:moveTo>
                  <a:lnTo>
                    <a:pt x="121936" y="0"/>
                  </a:lnTo>
                  <a:lnTo>
                    <a:pt x="121936" y="98546"/>
                  </a:lnTo>
                  <a:lnTo>
                    <a:pt x="0" y="98546"/>
                  </a:lnTo>
                  <a:close/>
                </a:path>
              </a:pathLst>
            </a:custGeom>
            <a:blipFill>
              <a:blip r:embed="rId10"/>
              <a:stretch>
                <a:fillRect l="0" t="-13376" r="0" b="-13376"/>
              </a:stretch>
            </a:blipFill>
          </p:spPr>
        </p:sp>
      </p:grpSp>
      <p:sp>
        <p:nvSpPr>
          <p:cNvPr name="TextBox 20" id="20"/>
          <p:cNvSpPr txBox="true"/>
          <p:nvPr/>
        </p:nvSpPr>
        <p:spPr>
          <a:xfrm rot="0">
            <a:off x="1028700" y="766445"/>
            <a:ext cx="14168470" cy="753110"/>
          </a:xfrm>
          <a:prstGeom prst="rect">
            <a:avLst/>
          </a:prstGeom>
        </p:spPr>
        <p:txBody>
          <a:bodyPr anchor="t" rtlCol="false" tIns="0" lIns="0" bIns="0" rIns="0">
            <a:spAutoFit/>
          </a:bodyPr>
          <a:lstStyle/>
          <a:p>
            <a:pPr algn="l">
              <a:lnSpc>
                <a:spcPts val="5394"/>
              </a:lnSpc>
            </a:pPr>
            <a:r>
              <a:rPr lang="en-US" sz="6499" b="true">
                <a:solidFill>
                  <a:srgbClr val="001E3A"/>
                </a:solidFill>
                <a:latin typeface="Garet Ultra-Bold"/>
                <a:ea typeface="Garet Ultra-Bold"/>
                <a:cs typeface="Garet Ultra-Bold"/>
                <a:sym typeface="Garet Ultra-Bold"/>
              </a:rPr>
              <a:t>Thiết kế hệ thống – Mô hình ERD</a:t>
            </a:r>
          </a:p>
        </p:txBody>
      </p:sp>
      <p:sp>
        <p:nvSpPr>
          <p:cNvPr name="TextBox 21" id="21"/>
          <p:cNvSpPr txBox="true"/>
          <p:nvPr/>
        </p:nvSpPr>
        <p:spPr>
          <a:xfrm rot="0">
            <a:off x="10761702" y="1819564"/>
            <a:ext cx="6977837" cy="2839331"/>
          </a:xfrm>
          <a:prstGeom prst="rect">
            <a:avLst/>
          </a:prstGeom>
        </p:spPr>
        <p:txBody>
          <a:bodyPr anchor="t" rtlCol="false" tIns="0" lIns="0" bIns="0" rIns="0">
            <a:spAutoFit/>
          </a:bodyPr>
          <a:lstStyle/>
          <a:p>
            <a:pPr algn="l">
              <a:lnSpc>
                <a:spcPts val="4781"/>
              </a:lnSpc>
            </a:pPr>
            <a:r>
              <a:rPr lang="en-US" sz="3415" b="true">
                <a:solidFill>
                  <a:srgbClr val="001E3A"/>
                </a:solidFill>
                <a:latin typeface="Garet Bold"/>
                <a:ea typeface="Garet Bold"/>
                <a:cs typeface="Garet Bold"/>
                <a:sym typeface="Garet Bold"/>
              </a:rPr>
              <a:t>Cấu Trúc Dữ Liệu Cốt Lõi</a:t>
            </a:r>
          </a:p>
          <a:p>
            <a:pPr algn="l">
              <a:lnSpc>
                <a:spcPts val="3941"/>
              </a:lnSpc>
            </a:pPr>
          </a:p>
          <a:p>
            <a:pPr algn="l">
              <a:lnSpc>
                <a:spcPts val="3521"/>
              </a:lnSpc>
            </a:pPr>
            <a:r>
              <a:rPr lang="en-US" sz="2515">
                <a:solidFill>
                  <a:srgbClr val="001E3A"/>
                </a:solidFill>
                <a:latin typeface="Garet"/>
                <a:ea typeface="Garet"/>
                <a:cs typeface="Garet"/>
                <a:sym typeface="Garet"/>
              </a:rPr>
              <a:t>Các thực thể chính</a:t>
            </a:r>
          </a:p>
          <a:p>
            <a:pPr algn="l">
              <a:lnSpc>
                <a:spcPts val="3521"/>
              </a:lnSpc>
            </a:pPr>
            <a:r>
              <a:rPr lang="en-US" sz="2515">
                <a:solidFill>
                  <a:srgbClr val="001E3A"/>
                </a:solidFill>
                <a:latin typeface="Garet"/>
                <a:ea typeface="Garet"/>
                <a:cs typeface="Garet"/>
                <a:sym typeface="Garet"/>
              </a:rPr>
              <a:t>Cấu trúc dữ liệu được thiết kế để đảm bảo</a:t>
            </a:r>
          </a:p>
          <a:p>
            <a:pPr algn="l">
              <a:lnSpc>
                <a:spcPts val="3521"/>
              </a:lnSpc>
            </a:pPr>
            <a:r>
              <a:rPr lang="en-US" sz="2515">
                <a:solidFill>
                  <a:srgbClr val="001E3A"/>
                </a:solidFill>
                <a:latin typeface="Garet"/>
                <a:ea typeface="Garet"/>
                <a:cs typeface="Garet"/>
                <a:sym typeface="Garet"/>
              </a:rPr>
              <a:t>tính toàn vẹn và linh hoạt, xoay quanh các</a:t>
            </a:r>
          </a:p>
          <a:p>
            <a:pPr algn="l">
              <a:lnSpc>
                <a:spcPts val="3521"/>
              </a:lnSpc>
            </a:pPr>
            <a:r>
              <a:rPr lang="en-US" sz="2515">
                <a:solidFill>
                  <a:srgbClr val="001E3A"/>
                </a:solidFill>
                <a:latin typeface="Garet"/>
                <a:ea typeface="Garet"/>
                <a:cs typeface="Garet"/>
                <a:sym typeface="Garet"/>
              </a:rPr>
              <a:t>thực thể chính:</a:t>
            </a:r>
          </a:p>
        </p:txBody>
      </p:sp>
      <p:sp>
        <p:nvSpPr>
          <p:cNvPr name="TextBox 22" id="22"/>
          <p:cNvSpPr txBox="true"/>
          <p:nvPr/>
        </p:nvSpPr>
        <p:spPr>
          <a:xfrm rot="0">
            <a:off x="13691401" y="9363075"/>
            <a:ext cx="559219" cy="339215"/>
          </a:xfrm>
          <a:prstGeom prst="rect">
            <a:avLst/>
          </a:prstGeom>
        </p:spPr>
        <p:txBody>
          <a:bodyPr anchor="t" rtlCol="false" tIns="0" lIns="0" bIns="0" rIns="0">
            <a:spAutoFit/>
          </a:bodyPr>
          <a:lstStyle/>
          <a:p>
            <a:pPr algn="ctr">
              <a:lnSpc>
                <a:spcPts val="2440"/>
              </a:lnSpc>
            </a:pPr>
            <a:r>
              <a:rPr lang="en-US" sz="2940" b="true">
                <a:solidFill>
                  <a:srgbClr val="001E3A"/>
                </a:solidFill>
                <a:latin typeface="Garet Ultra-Bold"/>
                <a:ea typeface="Garet Ultra-Bold"/>
                <a:cs typeface="Garet Ultra-Bold"/>
                <a:sym typeface="Garet Ultra-Bold"/>
              </a:rPr>
              <a:t>5</a:t>
            </a:r>
          </a:p>
        </p:txBody>
      </p:sp>
      <p:sp>
        <p:nvSpPr>
          <p:cNvPr name="TextBox 23" id="23"/>
          <p:cNvSpPr txBox="true"/>
          <p:nvPr/>
        </p:nvSpPr>
        <p:spPr>
          <a:xfrm rot="0">
            <a:off x="10761702" y="4882085"/>
            <a:ext cx="7938315" cy="860425"/>
          </a:xfrm>
          <a:prstGeom prst="rect">
            <a:avLst/>
          </a:prstGeom>
        </p:spPr>
        <p:txBody>
          <a:bodyPr anchor="t" rtlCol="false" tIns="0" lIns="0" bIns="0" rIns="0">
            <a:spAutoFit/>
          </a:bodyPr>
          <a:lstStyle/>
          <a:p>
            <a:pPr algn="l">
              <a:lnSpc>
                <a:spcPts val="3499"/>
              </a:lnSpc>
            </a:pPr>
            <a:r>
              <a:rPr lang="en-US" sz="2499" b="true">
                <a:solidFill>
                  <a:srgbClr val="001E3A"/>
                </a:solidFill>
                <a:latin typeface="Garet Bold"/>
                <a:ea typeface="Garet Bold"/>
                <a:cs typeface="Garet Bold"/>
                <a:sym typeface="Garet Bold"/>
              </a:rPr>
              <a:t>Users:</a:t>
            </a:r>
            <a:r>
              <a:rPr lang="en-US" sz="2499">
                <a:solidFill>
                  <a:srgbClr val="001E3A"/>
                </a:solidFill>
                <a:latin typeface="Garet"/>
                <a:ea typeface="Garet"/>
                <a:cs typeface="Garet"/>
                <a:sym typeface="Garet"/>
              </a:rPr>
              <a:t> Lưu trữ thông tin khách hàng và quản </a:t>
            </a:r>
          </a:p>
          <a:p>
            <a:pPr algn="l">
              <a:lnSpc>
                <a:spcPts val="3499"/>
              </a:lnSpc>
            </a:pPr>
            <a:r>
              <a:rPr lang="en-US" sz="2499">
                <a:solidFill>
                  <a:srgbClr val="001E3A"/>
                </a:solidFill>
                <a:latin typeface="Garet"/>
                <a:ea typeface="Garet"/>
                <a:cs typeface="Garet"/>
                <a:sym typeface="Garet"/>
              </a:rPr>
              <a:t>trị viên, phân quyền rõ ràng.</a:t>
            </a:r>
          </a:p>
        </p:txBody>
      </p:sp>
      <p:sp>
        <p:nvSpPr>
          <p:cNvPr name="TextBox 24" id="24"/>
          <p:cNvSpPr txBox="true"/>
          <p:nvPr/>
        </p:nvSpPr>
        <p:spPr>
          <a:xfrm rot="0">
            <a:off x="10761702" y="5885385"/>
            <a:ext cx="7938315" cy="860425"/>
          </a:xfrm>
          <a:prstGeom prst="rect">
            <a:avLst/>
          </a:prstGeom>
        </p:spPr>
        <p:txBody>
          <a:bodyPr anchor="t" rtlCol="false" tIns="0" lIns="0" bIns="0" rIns="0">
            <a:spAutoFit/>
          </a:bodyPr>
          <a:lstStyle/>
          <a:p>
            <a:pPr algn="l">
              <a:lnSpc>
                <a:spcPts val="3499"/>
              </a:lnSpc>
            </a:pPr>
            <a:r>
              <a:rPr lang="en-US" sz="2499" b="true">
                <a:solidFill>
                  <a:srgbClr val="001E3A"/>
                </a:solidFill>
                <a:latin typeface="Garet Bold"/>
                <a:ea typeface="Garet Bold"/>
                <a:cs typeface="Garet Bold"/>
                <a:sym typeface="Garet Bold"/>
              </a:rPr>
              <a:t>Products &amp; Categories:</a:t>
            </a:r>
            <a:r>
              <a:rPr lang="en-US" sz="2499">
                <a:solidFill>
                  <a:srgbClr val="001E3A"/>
                </a:solidFill>
                <a:latin typeface="Garet"/>
                <a:ea typeface="Garet"/>
                <a:cs typeface="Garet"/>
                <a:sym typeface="Garet"/>
              </a:rPr>
              <a:t> Tổ chức sản phẩm </a:t>
            </a:r>
          </a:p>
          <a:p>
            <a:pPr algn="l">
              <a:lnSpc>
                <a:spcPts val="3499"/>
              </a:lnSpc>
            </a:pPr>
            <a:r>
              <a:rPr lang="en-US" sz="2499">
                <a:solidFill>
                  <a:srgbClr val="001E3A"/>
                </a:solidFill>
                <a:latin typeface="Garet"/>
                <a:ea typeface="Garet"/>
                <a:cs typeface="Garet"/>
                <a:sym typeface="Garet"/>
              </a:rPr>
              <a:t>khoa học, dễ dàng tìm kiếm và quản lý.</a:t>
            </a:r>
          </a:p>
        </p:txBody>
      </p:sp>
      <p:sp>
        <p:nvSpPr>
          <p:cNvPr name="TextBox 25" id="25"/>
          <p:cNvSpPr txBox="true"/>
          <p:nvPr/>
        </p:nvSpPr>
        <p:spPr>
          <a:xfrm rot="0">
            <a:off x="10761702" y="6888685"/>
            <a:ext cx="7938315" cy="860425"/>
          </a:xfrm>
          <a:prstGeom prst="rect">
            <a:avLst/>
          </a:prstGeom>
        </p:spPr>
        <p:txBody>
          <a:bodyPr anchor="t" rtlCol="false" tIns="0" lIns="0" bIns="0" rIns="0">
            <a:spAutoFit/>
          </a:bodyPr>
          <a:lstStyle/>
          <a:p>
            <a:pPr algn="l">
              <a:lnSpc>
                <a:spcPts val="3499"/>
              </a:lnSpc>
            </a:pPr>
            <a:r>
              <a:rPr lang="en-US" sz="2499" b="true">
                <a:solidFill>
                  <a:srgbClr val="001E3A"/>
                </a:solidFill>
                <a:latin typeface="Garet Bold"/>
                <a:ea typeface="Garet Bold"/>
                <a:cs typeface="Garet Bold"/>
                <a:sym typeface="Garet Bold"/>
              </a:rPr>
              <a:t>Orders &amp; Order_Details:</a:t>
            </a:r>
            <a:r>
              <a:rPr lang="en-US" sz="2499">
                <a:solidFill>
                  <a:srgbClr val="001E3A"/>
                </a:solidFill>
                <a:latin typeface="Garet"/>
                <a:ea typeface="Garet"/>
                <a:cs typeface="Garet"/>
                <a:sym typeface="Garet"/>
              </a:rPr>
              <a:t> Ghi nhận lịch sử </a:t>
            </a:r>
          </a:p>
          <a:p>
            <a:pPr algn="l">
              <a:lnSpc>
                <a:spcPts val="3499"/>
              </a:lnSpc>
            </a:pPr>
            <a:r>
              <a:rPr lang="en-US" sz="2499">
                <a:solidFill>
                  <a:srgbClr val="001E3A"/>
                </a:solidFill>
                <a:latin typeface="Garet"/>
                <a:ea typeface="Garet"/>
                <a:cs typeface="Garet"/>
                <a:sym typeface="Garet"/>
              </a:rPr>
              <a:t>giao dịch chi tiết, đảm bảo tính chính xác.</a:t>
            </a:r>
          </a:p>
        </p:txBody>
      </p:sp>
      <p:sp>
        <p:nvSpPr>
          <p:cNvPr name="TextBox 26" id="26"/>
          <p:cNvSpPr txBox="true"/>
          <p:nvPr/>
        </p:nvSpPr>
        <p:spPr>
          <a:xfrm rot="0">
            <a:off x="10761702" y="7847819"/>
            <a:ext cx="7938315" cy="1298575"/>
          </a:xfrm>
          <a:prstGeom prst="rect">
            <a:avLst/>
          </a:prstGeom>
        </p:spPr>
        <p:txBody>
          <a:bodyPr anchor="t" rtlCol="false" tIns="0" lIns="0" bIns="0" rIns="0">
            <a:spAutoFit/>
          </a:bodyPr>
          <a:lstStyle/>
          <a:p>
            <a:pPr algn="l">
              <a:lnSpc>
                <a:spcPts val="3499"/>
              </a:lnSpc>
            </a:pPr>
            <a:r>
              <a:rPr lang="en-US" sz="2499" b="true">
                <a:solidFill>
                  <a:srgbClr val="001E3A"/>
                </a:solidFill>
                <a:latin typeface="Garet Bold"/>
                <a:ea typeface="Garet Bold"/>
                <a:cs typeface="Garet Bold"/>
                <a:sym typeface="Garet Bold"/>
              </a:rPr>
              <a:t>Stock_Movements:</a:t>
            </a:r>
            <a:r>
              <a:rPr lang="en-US" sz="2499">
                <a:solidFill>
                  <a:srgbClr val="001E3A"/>
                </a:solidFill>
                <a:latin typeface="Garet"/>
                <a:ea typeface="Garet"/>
                <a:cs typeface="Garet"/>
                <a:sym typeface="Garet"/>
              </a:rPr>
              <a:t> Theo dõi mọi biến động xuất/nhập kho, giúp quản lý tồn kho </a:t>
            </a:r>
          </a:p>
          <a:p>
            <a:pPr algn="l">
              <a:lnSpc>
                <a:spcPts val="3499"/>
              </a:lnSpc>
            </a:pPr>
            <a:r>
              <a:rPr lang="en-US" sz="2499">
                <a:solidFill>
                  <a:srgbClr val="001E3A"/>
                </a:solidFill>
                <a:latin typeface="Garet"/>
                <a:ea typeface="Garet"/>
                <a:cs typeface="Garet"/>
                <a:sym typeface="Garet"/>
              </a:rPr>
              <a:t>chính xác.</a:t>
            </a:r>
          </a:p>
        </p:txBody>
      </p:sp>
      <p:sp>
        <p:nvSpPr>
          <p:cNvPr name="TextBox 27" id="27"/>
          <p:cNvSpPr txBox="true"/>
          <p:nvPr/>
        </p:nvSpPr>
        <p:spPr>
          <a:xfrm rot="0">
            <a:off x="14457899" y="9278166"/>
            <a:ext cx="3008680" cy="356632"/>
          </a:xfrm>
          <a:prstGeom prst="rect">
            <a:avLst/>
          </a:prstGeom>
        </p:spPr>
        <p:txBody>
          <a:bodyPr anchor="t" rtlCol="false" tIns="0" lIns="0" bIns="0" rIns="0">
            <a:spAutoFit/>
          </a:bodyPr>
          <a:lstStyle/>
          <a:p>
            <a:pPr algn="l">
              <a:lnSpc>
                <a:spcPts val="2918"/>
              </a:lnSpc>
            </a:pPr>
            <a:r>
              <a:rPr lang="en-US" sz="2084" b="true">
                <a:solidFill>
                  <a:srgbClr val="001E3A"/>
                </a:solidFill>
                <a:latin typeface="Garet Bold"/>
                <a:ea typeface="Garet Bold"/>
                <a:cs typeface="Garet Bold"/>
                <a:sym typeface="Garet Bold"/>
              </a:rPr>
              <a:t>VPP ONLINE</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5F1E9"/>
        </a:solidFill>
      </p:bgPr>
    </p:bg>
    <p:spTree>
      <p:nvGrpSpPr>
        <p:cNvPr id="1" name=""/>
        <p:cNvGrpSpPr/>
        <p:nvPr/>
      </p:nvGrpSpPr>
      <p:grpSpPr>
        <a:xfrm>
          <a:off x="0" y="0"/>
          <a:ext cx="0" cy="0"/>
          <a:chOff x="0" y="0"/>
          <a:chExt cx="0" cy="0"/>
        </a:xfrm>
      </p:grpSpPr>
      <p:grpSp>
        <p:nvGrpSpPr>
          <p:cNvPr name="Group 2" id="2"/>
          <p:cNvGrpSpPr/>
          <p:nvPr/>
        </p:nvGrpSpPr>
        <p:grpSpPr>
          <a:xfrm rot="0">
            <a:off x="16116124" y="-447811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301794" y="8290956"/>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86437" y="10006067"/>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612366" y="-1873188"/>
            <a:ext cx="3800634" cy="2079983"/>
          </a:xfrm>
          <a:custGeom>
            <a:avLst/>
            <a:gdLst/>
            <a:ahLst/>
            <a:cxnLst/>
            <a:rect r="r" b="b" t="t" l="l"/>
            <a:pathLst>
              <a:path h="2079983" w="3800634">
                <a:moveTo>
                  <a:pt x="0" y="0"/>
                </a:moveTo>
                <a:lnTo>
                  <a:pt x="3800634" y="0"/>
                </a:lnTo>
                <a:lnTo>
                  <a:pt x="3800634" y="2079984"/>
                </a:lnTo>
                <a:lnTo>
                  <a:pt x="0" y="2079984"/>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grpSp>
        <p:nvGrpSpPr>
          <p:cNvPr name="Group 10" id="10"/>
          <p:cNvGrpSpPr/>
          <p:nvPr/>
        </p:nvGrpSpPr>
        <p:grpSpPr>
          <a:xfrm rot="0">
            <a:off x="755878" y="1137365"/>
            <a:ext cx="2748030" cy="2619241"/>
            <a:chOff x="0" y="0"/>
            <a:chExt cx="723761" cy="689841"/>
          </a:xfrm>
        </p:grpSpPr>
        <p:sp>
          <p:nvSpPr>
            <p:cNvPr name="Freeform 11" id="11"/>
            <p:cNvSpPr/>
            <p:nvPr/>
          </p:nvSpPr>
          <p:spPr>
            <a:xfrm flipH="false" flipV="false" rot="0">
              <a:off x="0" y="0"/>
              <a:ext cx="723761" cy="689841"/>
            </a:xfrm>
            <a:custGeom>
              <a:avLst/>
              <a:gdLst/>
              <a:ahLst/>
              <a:cxnLst/>
              <a:rect r="r" b="b" t="t" l="l"/>
              <a:pathLst>
                <a:path h="689841" w="723761">
                  <a:moveTo>
                    <a:pt x="143680" y="0"/>
                  </a:moveTo>
                  <a:lnTo>
                    <a:pt x="580080" y="0"/>
                  </a:lnTo>
                  <a:cubicBezTo>
                    <a:pt x="659433" y="0"/>
                    <a:pt x="723761" y="64328"/>
                    <a:pt x="723761" y="143680"/>
                  </a:cubicBezTo>
                  <a:lnTo>
                    <a:pt x="723761" y="546161"/>
                  </a:lnTo>
                  <a:cubicBezTo>
                    <a:pt x="723761" y="584267"/>
                    <a:pt x="708623" y="620813"/>
                    <a:pt x="681678" y="647758"/>
                  </a:cubicBezTo>
                  <a:cubicBezTo>
                    <a:pt x="654733" y="674704"/>
                    <a:pt x="618187" y="689841"/>
                    <a:pt x="580080" y="689841"/>
                  </a:cubicBezTo>
                  <a:lnTo>
                    <a:pt x="143680" y="689841"/>
                  </a:lnTo>
                  <a:cubicBezTo>
                    <a:pt x="64328" y="689841"/>
                    <a:pt x="0" y="625513"/>
                    <a:pt x="0" y="546161"/>
                  </a:cubicBezTo>
                  <a:lnTo>
                    <a:pt x="0" y="143680"/>
                  </a:lnTo>
                  <a:cubicBezTo>
                    <a:pt x="0" y="64328"/>
                    <a:pt x="64328" y="0"/>
                    <a:pt x="143680" y="0"/>
                  </a:cubicBezTo>
                  <a:close/>
                </a:path>
              </a:pathLst>
            </a:custGeom>
            <a:solidFill>
              <a:srgbClr val="D9D9D9"/>
            </a:solidFill>
          </p:spPr>
        </p:sp>
        <p:sp>
          <p:nvSpPr>
            <p:cNvPr name="TextBox 12" id="12"/>
            <p:cNvSpPr txBox="true"/>
            <p:nvPr/>
          </p:nvSpPr>
          <p:spPr>
            <a:xfrm>
              <a:off x="0" y="-38100"/>
              <a:ext cx="723761" cy="727941"/>
            </a:xfrm>
            <a:prstGeom prst="rect">
              <a:avLst/>
            </a:prstGeom>
          </p:spPr>
          <p:txBody>
            <a:bodyPr anchor="ctr" rtlCol="false" tIns="50800" lIns="50800" bIns="50800" rIns="50800"/>
            <a:lstStyle/>
            <a:p>
              <a:pPr algn="ctr">
                <a:lnSpc>
                  <a:spcPts val="2659"/>
                </a:lnSpc>
              </a:pPr>
            </a:p>
          </p:txBody>
        </p:sp>
      </p:grpSp>
      <p:grpSp>
        <p:nvGrpSpPr>
          <p:cNvPr name="Group 13" id="13"/>
          <p:cNvGrpSpPr/>
          <p:nvPr/>
        </p:nvGrpSpPr>
        <p:grpSpPr>
          <a:xfrm rot="0">
            <a:off x="15044988" y="1137365"/>
            <a:ext cx="2748030" cy="2619241"/>
            <a:chOff x="0" y="0"/>
            <a:chExt cx="723761" cy="689841"/>
          </a:xfrm>
        </p:grpSpPr>
        <p:sp>
          <p:nvSpPr>
            <p:cNvPr name="Freeform 14" id="14"/>
            <p:cNvSpPr/>
            <p:nvPr/>
          </p:nvSpPr>
          <p:spPr>
            <a:xfrm flipH="false" flipV="false" rot="0">
              <a:off x="0" y="0"/>
              <a:ext cx="723761" cy="689841"/>
            </a:xfrm>
            <a:custGeom>
              <a:avLst/>
              <a:gdLst/>
              <a:ahLst/>
              <a:cxnLst/>
              <a:rect r="r" b="b" t="t" l="l"/>
              <a:pathLst>
                <a:path h="689841" w="723761">
                  <a:moveTo>
                    <a:pt x="143680" y="0"/>
                  </a:moveTo>
                  <a:lnTo>
                    <a:pt x="580080" y="0"/>
                  </a:lnTo>
                  <a:cubicBezTo>
                    <a:pt x="659433" y="0"/>
                    <a:pt x="723761" y="64328"/>
                    <a:pt x="723761" y="143680"/>
                  </a:cubicBezTo>
                  <a:lnTo>
                    <a:pt x="723761" y="546161"/>
                  </a:lnTo>
                  <a:cubicBezTo>
                    <a:pt x="723761" y="584267"/>
                    <a:pt x="708623" y="620813"/>
                    <a:pt x="681678" y="647758"/>
                  </a:cubicBezTo>
                  <a:cubicBezTo>
                    <a:pt x="654733" y="674704"/>
                    <a:pt x="618187" y="689841"/>
                    <a:pt x="580080" y="689841"/>
                  </a:cubicBezTo>
                  <a:lnTo>
                    <a:pt x="143680" y="689841"/>
                  </a:lnTo>
                  <a:cubicBezTo>
                    <a:pt x="64328" y="689841"/>
                    <a:pt x="0" y="625513"/>
                    <a:pt x="0" y="546161"/>
                  </a:cubicBezTo>
                  <a:lnTo>
                    <a:pt x="0" y="143680"/>
                  </a:lnTo>
                  <a:cubicBezTo>
                    <a:pt x="0" y="64328"/>
                    <a:pt x="64328" y="0"/>
                    <a:pt x="143680" y="0"/>
                  </a:cubicBezTo>
                  <a:close/>
                </a:path>
              </a:pathLst>
            </a:custGeom>
            <a:solidFill>
              <a:srgbClr val="D9D9D9"/>
            </a:solidFill>
          </p:spPr>
        </p:sp>
        <p:sp>
          <p:nvSpPr>
            <p:cNvPr name="TextBox 15" id="15"/>
            <p:cNvSpPr txBox="true"/>
            <p:nvPr/>
          </p:nvSpPr>
          <p:spPr>
            <a:xfrm>
              <a:off x="0" y="-38100"/>
              <a:ext cx="723761" cy="727941"/>
            </a:xfrm>
            <a:prstGeom prst="rect">
              <a:avLst/>
            </a:prstGeom>
          </p:spPr>
          <p:txBody>
            <a:bodyPr anchor="ctr" rtlCol="false" tIns="50800" lIns="50800" bIns="50800" rIns="50800"/>
            <a:lstStyle/>
            <a:p>
              <a:pPr algn="ctr">
                <a:lnSpc>
                  <a:spcPts val="2659"/>
                </a:lnSpc>
              </a:pPr>
            </a:p>
          </p:txBody>
        </p:sp>
      </p:grpSp>
      <p:grpSp>
        <p:nvGrpSpPr>
          <p:cNvPr name="Group 16" id="16"/>
          <p:cNvGrpSpPr/>
          <p:nvPr/>
        </p:nvGrpSpPr>
        <p:grpSpPr>
          <a:xfrm rot="0">
            <a:off x="4304008" y="1137365"/>
            <a:ext cx="2844621" cy="2619241"/>
            <a:chOff x="0" y="0"/>
            <a:chExt cx="749201" cy="689841"/>
          </a:xfrm>
        </p:grpSpPr>
        <p:sp>
          <p:nvSpPr>
            <p:cNvPr name="Freeform 17" id="17"/>
            <p:cNvSpPr/>
            <p:nvPr/>
          </p:nvSpPr>
          <p:spPr>
            <a:xfrm flipH="false" flipV="false" rot="0">
              <a:off x="0" y="0"/>
              <a:ext cx="749201" cy="689841"/>
            </a:xfrm>
            <a:custGeom>
              <a:avLst/>
              <a:gdLst/>
              <a:ahLst/>
              <a:cxnLst/>
              <a:rect r="r" b="b" t="t" l="l"/>
              <a:pathLst>
                <a:path h="689841" w="749201">
                  <a:moveTo>
                    <a:pt x="138802" y="0"/>
                  </a:moveTo>
                  <a:lnTo>
                    <a:pt x="610399" y="0"/>
                  </a:lnTo>
                  <a:cubicBezTo>
                    <a:pt x="647212" y="0"/>
                    <a:pt x="682516" y="14624"/>
                    <a:pt x="708547" y="40654"/>
                  </a:cubicBezTo>
                  <a:cubicBezTo>
                    <a:pt x="734577" y="66684"/>
                    <a:pt x="749201" y="101989"/>
                    <a:pt x="749201" y="138802"/>
                  </a:cubicBezTo>
                  <a:lnTo>
                    <a:pt x="749201" y="551040"/>
                  </a:lnTo>
                  <a:cubicBezTo>
                    <a:pt x="749201" y="627698"/>
                    <a:pt x="687057" y="689841"/>
                    <a:pt x="610399" y="689841"/>
                  </a:cubicBezTo>
                  <a:lnTo>
                    <a:pt x="138802" y="689841"/>
                  </a:lnTo>
                  <a:cubicBezTo>
                    <a:pt x="62144" y="689841"/>
                    <a:pt x="0" y="627698"/>
                    <a:pt x="0" y="551040"/>
                  </a:cubicBezTo>
                  <a:lnTo>
                    <a:pt x="0" y="138802"/>
                  </a:lnTo>
                  <a:cubicBezTo>
                    <a:pt x="0" y="101989"/>
                    <a:pt x="14624" y="66684"/>
                    <a:pt x="40654" y="40654"/>
                  </a:cubicBezTo>
                  <a:cubicBezTo>
                    <a:pt x="66684" y="14624"/>
                    <a:pt x="101989" y="0"/>
                    <a:pt x="138802" y="0"/>
                  </a:cubicBezTo>
                  <a:close/>
                </a:path>
              </a:pathLst>
            </a:custGeom>
            <a:solidFill>
              <a:srgbClr val="D9D9D9"/>
            </a:solidFill>
          </p:spPr>
        </p:sp>
        <p:sp>
          <p:nvSpPr>
            <p:cNvPr name="TextBox 18" id="18"/>
            <p:cNvSpPr txBox="true"/>
            <p:nvPr/>
          </p:nvSpPr>
          <p:spPr>
            <a:xfrm>
              <a:off x="0" y="-38100"/>
              <a:ext cx="749201" cy="727941"/>
            </a:xfrm>
            <a:prstGeom prst="rect">
              <a:avLst/>
            </a:prstGeom>
          </p:spPr>
          <p:txBody>
            <a:bodyPr anchor="ctr" rtlCol="false" tIns="50800" lIns="50800" bIns="50800" rIns="50800"/>
            <a:lstStyle/>
            <a:p>
              <a:pPr algn="ctr">
                <a:lnSpc>
                  <a:spcPts val="2659"/>
                </a:lnSpc>
              </a:pPr>
            </a:p>
          </p:txBody>
        </p:sp>
      </p:grpSp>
      <p:grpSp>
        <p:nvGrpSpPr>
          <p:cNvPr name="Group 19" id="19"/>
          <p:cNvGrpSpPr/>
          <p:nvPr/>
        </p:nvGrpSpPr>
        <p:grpSpPr>
          <a:xfrm rot="0">
            <a:off x="11496859" y="1137365"/>
            <a:ext cx="2748030" cy="2619241"/>
            <a:chOff x="0" y="0"/>
            <a:chExt cx="723761" cy="689841"/>
          </a:xfrm>
        </p:grpSpPr>
        <p:sp>
          <p:nvSpPr>
            <p:cNvPr name="Freeform 20" id="20"/>
            <p:cNvSpPr/>
            <p:nvPr/>
          </p:nvSpPr>
          <p:spPr>
            <a:xfrm flipH="false" flipV="false" rot="0">
              <a:off x="0" y="0"/>
              <a:ext cx="723761" cy="689841"/>
            </a:xfrm>
            <a:custGeom>
              <a:avLst/>
              <a:gdLst/>
              <a:ahLst/>
              <a:cxnLst/>
              <a:rect r="r" b="b" t="t" l="l"/>
              <a:pathLst>
                <a:path h="689841" w="723761">
                  <a:moveTo>
                    <a:pt x="143680" y="0"/>
                  </a:moveTo>
                  <a:lnTo>
                    <a:pt x="580080" y="0"/>
                  </a:lnTo>
                  <a:cubicBezTo>
                    <a:pt x="659433" y="0"/>
                    <a:pt x="723761" y="64328"/>
                    <a:pt x="723761" y="143680"/>
                  </a:cubicBezTo>
                  <a:lnTo>
                    <a:pt x="723761" y="546161"/>
                  </a:lnTo>
                  <a:cubicBezTo>
                    <a:pt x="723761" y="584267"/>
                    <a:pt x="708623" y="620813"/>
                    <a:pt x="681678" y="647758"/>
                  </a:cubicBezTo>
                  <a:cubicBezTo>
                    <a:pt x="654733" y="674704"/>
                    <a:pt x="618187" y="689841"/>
                    <a:pt x="580080" y="689841"/>
                  </a:cubicBezTo>
                  <a:lnTo>
                    <a:pt x="143680" y="689841"/>
                  </a:lnTo>
                  <a:cubicBezTo>
                    <a:pt x="64328" y="689841"/>
                    <a:pt x="0" y="625513"/>
                    <a:pt x="0" y="546161"/>
                  </a:cubicBezTo>
                  <a:lnTo>
                    <a:pt x="0" y="143680"/>
                  </a:lnTo>
                  <a:cubicBezTo>
                    <a:pt x="0" y="64328"/>
                    <a:pt x="64328" y="0"/>
                    <a:pt x="143680" y="0"/>
                  </a:cubicBezTo>
                  <a:close/>
                </a:path>
              </a:pathLst>
            </a:custGeom>
            <a:solidFill>
              <a:srgbClr val="D9D9D9"/>
            </a:solidFill>
          </p:spPr>
        </p:sp>
        <p:sp>
          <p:nvSpPr>
            <p:cNvPr name="TextBox 21" id="21"/>
            <p:cNvSpPr txBox="true"/>
            <p:nvPr/>
          </p:nvSpPr>
          <p:spPr>
            <a:xfrm>
              <a:off x="0" y="-38100"/>
              <a:ext cx="723761" cy="727941"/>
            </a:xfrm>
            <a:prstGeom prst="rect">
              <a:avLst/>
            </a:prstGeom>
          </p:spPr>
          <p:txBody>
            <a:bodyPr anchor="ctr" rtlCol="false" tIns="50800" lIns="50800" bIns="50800" rIns="50800"/>
            <a:lstStyle/>
            <a:p>
              <a:pPr algn="ctr">
                <a:lnSpc>
                  <a:spcPts val="2659"/>
                </a:lnSpc>
              </a:pPr>
            </a:p>
          </p:txBody>
        </p:sp>
      </p:grpSp>
      <p:grpSp>
        <p:nvGrpSpPr>
          <p:cNvPr name="Group 22" id="22"/>
          <p:cNvGrpSpPr/>
          <p:nvPr/>
        </p:nvGrpSpPr>
        <p:grpSpPr>
          <a:xfrm rot="0">
            <a:off x="7948729" y="1137365"/>
            <a:ext cx="2748030" cy="2619241"/>
            <a:chOff x="0" y="0"/>
            <a:chExt cx="723761" cy="689841"/>
          </a:xfrm>
        </p:grpSpPr>
        <p:sp>
          <p:nvSpPr>
            <p:cNvPr name="Freeform 23" id="23"/>
            <p:cNvSpPr/>
            <p:nvPr/>
          </p:nvSpPr>
          <p:spPr>
            <a:xfrm flipH="false" flipV="false" rot="0">
              <a:off x="0" y="0"/>
              <a:ext cx="723761" cy="689841"/>
            </a:xfrm>
            <a:custGeom>
              <a:avLst/>
              <a:gdLst/>
              <a:ahLst/>
              <a:cxnLst/>
              <a:rect r="r" b="b" t="t" l="l"/>
              <a:pathLst>
                <a:path h="689841" w="723761">
                  <a:moveTo>
                    <a:pt x="143680" y="0"/>
                  </a:moveTo>
                  <a:lnTo>
                    <a:pt x="580080" y="0"/>
                  </a:lnTo>
                  <a:cubicBezTo>
                    <a:pt x="659433" y="0"/>
                    <a:pt x="723761" y="64328"/>
                    <a:pt x="723761" y="143680"/>
                  </a:cubicBezTo>
                  <a:lnTo>
                    <a:pt x="723761" y="546161"/>
                  </a:lnTo>
                  <a:cubicBezTo>
                    <a:pt x="723761" y="584267"/>
                    <a:pt x="708623" y="620813"/>
                    <a:pt x="681678" y="647758"/>
                  </a:cubicBezTo>
                  <a:cubicBezTo>
                    <a:pt x="654733" y="674704"/>
                    <a:pt x="618187" y="689841"/>
                    <a:pt x="580080" y="689841"/>
                  </a:cubicBezTo>
                  <a:lnTo>
                    <a:pt x="143680" y="689841"/>
                  </a:lnTo>
                  <a:cubicBezTo>
                    <a:pt x="64328" y="689841"/>
                    <a:pt x="0" y="625513"/>
                    <a:pt x="0" y="546161"/>
                  </a:cubicBezTo>
                  <a:lnTo>
                    <a:pt x="0" y="143680"/>
                  </a:lnTo>
                  <a:cubicBezTo>
                    <a:pt x="0" y="64328"/>
                    <a:pt x="64328" y="0"/>
                    <a:pt x="143680" y="0"/>
                  </a:cubicBezTo>
                  <a:close/>
                </a:path>
              </a:pathLst>
            </a:custGeom>
            <a:solidFill>
              <a:srgbClr val="D9D9D9"/>
            </a:solidFill>
          </p:spPr>
        </p:sp>
        <p:sp>
          <p:nvSpPr>
            <p:cNvPr name="TextBox 24" id="24"/>
            <p:cNvSpPr txBox="true"/>
            <p:nvPr/>
          </p:nvSpPr>
          <p:spPr>
            <a:xfrm>
              <a:off x="0" y="-38100"/>
              <a:ext cx="723761" cy="727941"/>
            </a:xfrm>
            <a:prstGeom prst="rect">
              <a:avLst/>
            </a:prstGeom>
          </p:spPr>
          <p:txBody>
            <a:bodyPr anchor="ctr" rtlCol="false" tIns="50800" lIns="50800" bIns="50800" rIns="50800"/>
            <a:lstStyle/>
            <a:p>
              <a:pPr algn="ctr">
                <a:lnSpc>
                  <a:spcPts val="2659"/>
                </a:lnSpc>
              </a:pPr>
            </a:p>
          </p:txBody>
        </p:sp>
      </p:grpSp>
      <p:sp>
        <p:nvSpPr>
          <p:cNvPr name="AutoShape 25" id="25"/>
          <p:cNvSpPr/>
          <p:nvPr/>
        </p:nvSpPr>
        <p:spPr>
          <a:xfrm>
            <a:off x="3503908" y="2446986"/>
            <a:ext cx="800100" cy="0"/>
          </a:xfrm>
          <a:prstGeom prst="line">
            <a:avLst/>
          </a:prstGeom>
          <a:ln cap="flat" w="38100">
            <a:solidFill>
              <a:srgbClr val="000000"/>
            </a:solidFill>
            <a:prstDash val="sysDot"/>
            <a:headEnd type="none" len="sm" w="sm"/>
            <a:tailEnd type="arrow" len="sm" w="med"/>
          </a:ln>
        </p:spPr>
      </p:sp>
      <p:sp>
        <p:nvSpPr>
          <p:cNvPr name="AutoShape 26" id="26"/>
          <p:cNvSpPr/>
          <p:nvPr/>
        </p:nvSpPr>
        <p:spPr>
          <a:xfrm>
            <a:off x="7148629" y="2446986"/>
            <a:ext cx="800100" cy="0"/>
          </a:xfrm>
          <a:prstGeom prst="line">
            <a:avLst/>
          </a:prstGeom>
          <a:ln cap="flat" w="38100">
            <a:solidFill>
              <a:srgbClr val="000000"/>
            </a:solidFill>
            <a:prstDash val="sysDot"/>
            <a:headEnd type="none" len="sm" w="sm"/>
            <a:tailEnd type="arrow" len="sm" w="med"/>
          </a:ln>
        </p:spPr>
      </p:sp>
      <p:sp>
        <p:nvSpPr>
          <p:cNvPr name="AutoShape 27" id="27"/>
          <p:cNvSpPr/>
          <p:nvPr/>
        </p:nvSpPr>
        <p:spPr>
          <a:xfrm>
            <a:off x="10696759" y="2446986"/>
            <a:ext cx="800100" cy="0"/>
          </a:xfrm>
          <a:prstGeom prst="line">
            <a:avLst/>
          </a:prstGeom>
          <a:ln cap="flat" w="38100">
            <a:solidFill>
              <a:srgbClr val="000000"/>
            </a:solidFill>
            <a:prstDash val="sysDot"/>
            <a:headEnd type="none" len="sm" w="sm"/>
            <a:tailEnd type="arrow" len="sm" w="med"/>
          </a:ln>
        </p:spPr>
      </p:sp>
      <p:sp>
        <p:nvSpPr>
          <p:cNvPr name="AutoShape 28" id="28"/>
          <p:cNvSpPr/>
          <p:nvPr/>
        </p:nvSpPr>
        <p:spPr>
          <a:xfrm>
            <a:off x="14244888" y="2446986"/>
            <a:ext cx="800100" cy="0"/>
          </a:xfrm>
          <a:prstGeom prst="line">
            <a:avLst/>
          </a:prstGeom>
          <a:ln cap="flat" w="38100">
            <a:solidFill>
              <a:srgbClr val="000000"/>
            </a:solidFill>
            <a:prstDash val="sysDot"/>
            <a:headEnd type="none" len="sm" w="sm"/>
            <a:tailEnd type="arrow" len="sm" w="med"/>
          </a:ln>
        </p:spPr>
      </p:sp>
      <p:grpSp>
        <p:nvGrpSpPr>
          <p:cNvPr name="Group 29" id="29"/>
          <p:cNvGrpSpPr/>
          <p:nvPr/>
        </p:nvGrpSpPr>
        <p:grpSpPr>
          <a:xfrm rot="0">
            <a:off x="668092" y="3963569"/>
            <a:ext cx="2835817" cy="4856614"/>
            <a:chOff x="0" y="0"/>
            <a:chExt cx="439342" cy="752417"/>
          </a:xfrm>
        </p:grpSpPr>
        <p:sp>
          <p:nvSpPr>
            <p:cNvPr name="Freeform 30" id="30"/>
            <p:cNvSpPr/>
            <p:nvPr/>
          </p:nvSpPr>
          <p:spPr>
            <a:xfrm flipH="false" flipV="false" rot="0">
              <a:off x="0" y="0"/>
              <a:ext cx="439342" cy="752417"/>
            </a:xfrm>
            <a:custGeom>
              <a:avLst/>
              <a:gdLst/>
              <a:ahLst/>
              <a:cxnLst/>
              <a:rect r="r" b="b" t="t" l="l"/>
              <a:pathLst>
                <a:path h="752417" w="439342">
                  <a:moveTo>
                    <a:pt x="0" y="0"/>
                  </a:moveTo>
                  <a:lnTo>
                    <a:pt x="439342" y="0"/>
                  </a:lnTo>
                  <a:lnTo>
                    <a:pt x="439342" y="752417"/>
                  </a:lnTo>
                  <a:lnTo>
                    <a:pt x="0" y="752417"/>
                  </a:lnTo>
                  <a:close/>
                </a:path>
              </a:pathLst>
            </a:custGeom>
            <a:blipFill>
              <a:blip r:embed="rId6"/>
              <a:stretch>
                <a:fillRect l="-4180" t="0" r="-4180" b="0"/>
              </a:stretch>
            </a:blipFill>
          </p:spPr>
        </p:sp>
      </p:grpSp>
      <p:sp>
        <p:nvSpPr>
          <p:cNvPr name="TextBox 31" id="31"/>
          <p:cNvSpPr txBox="true"/>
          <p:nvPr/>
        </p:nvSpPr>
        <p:spPr>
          <a:xfrm rot="0">
            <a:off x="876191" y="1505212"/>
            <a:ext cx="2507405" cy="1980810"/>
          </a:xfrm>
          <a:prstGeom prst="rect">
            <a:avLst/>
          </a:prstGeom>
        </p:spPr>
        <p:txBody>
          <a:bodyPr anchor="t" rtlCol="false" tIns="0" lIns="0" bIns="0" rIns="0">
            <a:spAutoFit/>
          </a:bodyPr>
          <a:lstStyle/>
          <a:p>
            <a:pPr algn="ctr">
              <a:lnSpc>
                <a:spcPts val="3241"/>
              </a:lnSpc>
            </a:pPr>
            <a:r>
              <a:rPr lang="en-US" sz="2315" b="true">
                <a:solidFill>
                  <a:srgbClr val="001E3A"/>
                </a:solidFill>
                <a:latin typeface="Garet Bold"/>
                <a:ea typeface="Garet Bold"/>
                <a:cs typeface="Garet Bold"/>
                <a:sym typeface="Garet Bold"/>
              </a:rPr>
              <a:t>Khám phá </a:t>
            </a:r>
          </a:p>
          <a:p>
            <a:pPr algn="ctr">
              <a:lnSpc>
                <a:spcPts val="3241"/>
              </a:lnSpc>
            </a:pPr>
            <a:r>
              <a:rPr lang="en-US" sz="2315" b="true">
                <a:solidFill>
                  <a:srgbClr val="001E3A"/>
                </a:solidFill>
                <a:latin typeface="Garet Bold"/>
                <a:ea typeface="Garet Bold"/>
                <a:cs typeface="Garet Bold"/>
                <a:sym typeface="Garet Bold"/>
              </a:rPr>
              <a:t>Tran</a:t>
            </a:r>
            <a:r>
              <a:rPr lang="en-US" sz="2315" b="true">
                <a:solidFill>
                  <a:srgbClr val="001E3A"/>
                </a:solidFill>
                <a:latin typeface="Garet Bold"/>
                <a:ea typeface="Garet Bold"/>
                <a:cs typeface="Garet Bold"/>
                <a:sym typeface="Garet Bold"/>
              </a:rPr>
              <a:t>g chủ</a:t>
            </a:r>
          </a:p>
          <a:p>
            <a:pPr algn="l">
              <a:lnSpc>
                <a:spcPts val="3101"/>
              </a:lnSpc>
            </a:pPr>
            <a:r>
              <a:rPr lang="en-US" sz="2215">
                <a:solidFill>
                  <a:srgbClr val="001E3A"/>
                </a:solidFill>
                <a:latin typeface="Garet"/>
                <a:ea typeface="Garet"/>
                <a:cs typeface="Garet"/>
                <a:sym typeface="Garet"/>
              </a:rPr>
              <a:t>Tiếp cận các sản</a:t>
            </a:r>
          </a:p>
          <a:p>
            <a:pPr algn="l">
              <a:lnSpc>
                <a:spcPts val="3101"/>
              </a:lnSpc>
            </a:pPr>
            <a:r>
              <a:rPr lang="en-US" sz="2215">
                <a:solidFill>
                  <a:srgbClr val="001E3A"/>
                </a:solidFill>
                <a:latin typeface="Garet"/>
                <a:ea typeface="Garet"/>
                <a:cs typeface="Garet"/>
                <a:sym typeface="Garet"/>
              </a:rPr>
              <a:t>phẩm noi bật và</a:t>
            </a:r>
          </a:p>
          <a:p>
            <a:pPr algn="l">
              <a:lnSpc>
                <a:spcPts val="3101"/>
              </a:lnSpc>
            </a:pPr>
            <a:r>
              <a:rPr lang="en-US" sz="2215">
                <a:solidFill>
                  <a:srgbClr val="001E3A"/>
                </a:solidFill>
                <a:latin typeface="Garet"/>
                <a:ea typeface="Garet"/>
                <a:cs typeface="Garet"/>
                <a:sym typeface="Garet"/>
              </a:rPr>
              <a:t>danh mục chính</a:t>
            </a:r>
          </a:p>
        </p:txBody>
      </p:sp>
      <p:sp>
        <p:nvSpPr>
          <p:cNvPr name="TextBox 32" id="32"/>
          <p:cNvSpPr txBox="true"/>
          <p:nvPr/>
        </p:nvSpPr>
        <p:spPr>
          <a:xfrm rot="0">
            <a:off x="668092" y="294513"/>
            <a:ext cx="14168470" cy="734187"/>
          </a:xfrm>
          <a:prstGeom prst="rect">
            <a:avLst/>
          </a:prstGeom>
        </p:spPr>
        <p:txBody>
          <a:bodyPr anchor="t" rtlCol="false" tIns="0" lIns="0" bIns="0" rIns="0">
            <a:spAutoFit/>
          </a:bodyPr>
          <a:lstStyle/>
          <a:p>
            <a:pPr algn="l">
              <a:lnSpc>
                <a:spcPts val="5229"/>
              </a:lnSpc>
            </a:pPr>
            <a:r>
              <a:rPr lang="en-US" sz="6300" b="true">
                <a:solidFill>
                  <a:srgbClr val="001E3A"/>
                </a:solidFill>
                <a:latin typeface="Garet Ultra-Bold"/>
                <a:ea typeface="Garet Ultra-Bold"/>
                <a:cs typeface="Garet Ultra-Bold"/>
                <a:sym typeface="Garet Ultra-Bold"/>
              </a:rPr>
              <a:t>Quy trình vận hành Website</a:t>
            </a:r>
          </a:p>
        </p:txBody>
      </p:sp>
      <p:sp>
        <p:nvSpPr>
          <p:cNvPr name="TextBox 33" id="33"/>
          <p:cNvSpPr txBox="true"/>
          <p:nvPr/>
        </p:nvSpPr>
        <p:spPr>
          <a:xfrm rot="0">
            <a:off x="13691401" y="9363075"/>
            <a:ext cx="559219" cy="339215"/>
          </a:xfrm>
          <a:prstGeom prst="rect">
            <a:avLst/>
          </a:prstGeom>
        </p:spPr>
        <p:txBody>
          <a:bodyPr anchor="t" rtlCol="false" tIns="0" lIns="0" bIns="0" rIns="0">
            <a:spAutoFit/>
          </a:bodyPr>
          <a:lstStyle/>
          <a:p>
            <a:pPr algn="ctr">
              <a:lnSpc>
                <a:spcPts val="2440"/>
              </a:lnSpc>
            </a:pPr>
            <a:r>
              <a:rPr lang="en-US" sz="2940" b="true">
                <a:solidFill>
                  <a:srgbClr val="001E3A"/>
                </a:solidFill>
                <a:latin typeface="Garet Ultra-Bold"/>
                <a:ea typeface="Garet Ultra-Bold"/>
                <a:cs typeface="Garet Ultra-Bold"/>
                <a:sym typeface="Garet Ultra-Bold"/>
              </a:rPr>
              <a:t>6</a:t>
            </a:r>
          </a:p>
        </p:txBody>
      </p:sp>
      <p:sp>
        <p:nvSpPr>
          <p:cNvPr name="TextBox 34" id="34"/>
          <p:cNvSpPr txBox="true"/>
          <p:nvPr/>
        </p:nvSpPr>
        <p:spPr>
          <a:xfrm rot="0">
            <a:off x="4520912" y="1319280"/>
            <a:ext cx="2507405" cy="2352675"/>
          </a:xfrm>
          <a:prstGeom prst="rect">
            <a:avLst/>
          </a:prstGeom>
        </p:spPr>
        <p:txBody>
          <a:bodyPr anchor="t" rtlCol="false" tIns="0" lIns="0" bIns="0" rIns="0">
            <a:spAutoFit/>
          </a:bodyPr>
          <a:lstStyle/>
          <a:p>
            <a:pPr algn="l">
              <a:lnSpc>
                <a:spcPts val="3220"/>
              </a:lnSpc>
            </a:pPr>
            <a:r>
              <a:rPr lang="en-US" sz="2300" b="true">
                <a:solidFill>
                  <a:srgbClr val="001E3A"/>
                </a:solidFill>
                <a:latin typeface="Garet Bold"/>
                <a:ea typeface="Garet Bold"/>
                <a:cs typeface="Garet Bold"/>
                <a:sym typeface="Garet Bold"/>
              </a:rPr>
              <a:t>Tìm kiếm &amp; Lọc</a:t>
            </a:r>
          </a:p>
          <a:p>
            <a:pPr algn="l">
              <a:lnSpc>
                <a:spcPts val="3220"/>
              </a:lnSpc>
            </a:pPr>
            <a:r>
              <a:rPr lang="en-US" sz="2300" b="true">
                <a:solidFill>
                  <a:srgbClr val="001E3A"/>
                </a:solidFill>
                <a:latin typeface="Garet Bold"/>
                <a:ea typeface="Garet Bold"/>
                <a:cs typeface="Garet Bold"/>
                <a:sym typeface="Garet Bold"/>
              </a:rPr>
              <a:t>Sả</a:t>
            </a:r>
            <a:r>
              <a:rPr lang="en-US" sz="2300" b="true">
                <a:solidFill>
                  <a:srgbClr val="001E3A"/>
                </a:solidFill>
                <a:latin typeface="Garet Bold"/>
                <a:ea typeface="Garet Bold"/>
                <a:cs typeface="Garet Bold"/>
                <a:sym typeface="Garet Bold"/>
              </a:rPr>
              <a:t>n</a:t>
            </a:r>
            <a:r>
              <a:rPr lang="en-US" sz="2300" b="true">
                <a:solidFill>
                  <a:srgbClr val="001E3A"/>
                </a:solidFill>
                <a:latin typeface="Garet Bold"/>
                <a:ea typeface="Garet Bold"/>
                <a:cs typeface="Garet Bold"/>
                <a:sym typeface="Garet Bold"/>
              </a:rPr>
              <a:t> phẩm </a:t>
            </a:r>
          </a:p>
          <a:p>
            <a:pPr algn="l">
              <a:lnSpc>
                <a:spcPts val="3080"/>
              </a:lnSpc>
            </a:pPr>
            <a:r>
              <a:rPr lang="en-US" sz="2200">
                <a:solidFill>
                  <a:srgbClr val="001E3A"/>
                </a:solidFill>
                <a:latin typeface="Garet"/>
                <a:ea typeface="Garet"/>
                <a:cs typeface="Garet"/>
                <a:sym typeface="Garet"/>
              </a:rPr>
              <a:t>Dễ dàng tìm thấy sản phẩm mong muốn theo danh mục, giá cả.</a:t>
            </a:r>
          </a:p>
        </p:txBody>
      </p:sp>
      <p:sp>
        <p:nvSpPr>
          <p:cNvPr name="TextBox 35" id="35"/>
          <p:cNvSpPr txBox="true"/>
          <p:nvPr/>
        </p:nvSpPr>
        <p:spPr>
          <a:xfrm rot="0">
            <a:off x="8069041" y="1242073"/>
            <a:ext cx="2507405" cy="2362200"/>
          </a:xfrm>
          <a:prstGeom prst="rect">
            <a:avLst/>
          </a:prstGeom>
        </p:spPr>
        <p:txBody>
          <a:bodyPr anchor="t" rtlCol="false" tIns="0" lIns="0" bIns="0" rIns="0">
            <a:spAutoFit/>
          </a:bodyPr>
          <a:lstStyle/>
          <a:p>
            <a:pPr algn="ctr">
              <a:lnSpc>
                <a:spcPts val="3220"/>
              </a:lnSpc>
            </a:pPr>
            <a:r>
              <a:rPr lang="en-US" sz="2300" b="true">
                <a:solidFill>
                  <a:srgbClr val="001E3A"/>
                </a:solidFill>
                <a:latin typeface="Garet Bold"/>
                <a:ea typeface="Garet Bold"/>
                <a:cs typeface="Garet Bold"/>
                <a:sym typeface="Garet Bold"/>
              </a:rPr>
              <a:t>Thêm vào</a:t>
            </a:r>
          </a:p>
          <a:p>
            <a:pPr algn="ctr">
              <a:lnSpc>
                <a:spcPts val="3220"/>
              </a:lnSpc>
            </a:pPr>
            <a:r>
              <a:rPr lang="en-US" sz="2300" b="true">
                <a:solidFill>
                  <a:srgbClr val="001E3A"/>
                </a:solidFill>
                <a:latin typeface="Garet Bold"/>
                <a:ea typeface="Garet Bold"/>
                <a:cs typeface="Garet Bold"/>
                <a:sym typeface="Garet Bold"/>
              </a:rPr>
              <a:t>Giỏ h</a:t>
            </a:r>
            <a:r>
              <a:rPr lang="en-US" sz="2300" b="true">
                <a:solidFill>
                  <a:srgbClr val="001E3A"/>
                </a:solidFill>
                <a:latin typeface="Garet Bold"/>
                <a:ea typeface="Garet Bold"/>
                <a:cs typeface="Garet Bold"/>
                <a:sym typeface="Garet Bold"/>
              </a:rPr>
              <a:t>àng</a:t>
            </a:r>
          </a:p>
          <a:p>
            <a:pPr algn="l">
              <a:lnSpc>
                <a:spcPts val="3220"/>
              </a:lnSpc>
            </a:pPr>
            <a:r>
              <a:rPr lang="en-US" sz="2300">
                <a:solidFill>
                  <a:srgbClr val="001E3A"/>
                </a:solidFill>
                <a:latin typeface="Garet"/>
                <a:ea typeface="Garet"/>
                <a:cs typeface="Garet"/>
                <a:sym typeface="Garet"/>
              </a:rPr>
              <a:t>Quản lý các sản</a:t>
            </a:r>
          </a:p>
          <a:p>
            <a:pPr algn="l">
              <a:lnSpc>
                <a:spcPts val="3080"/>
              </a:lnSpc>
            </a:pPr>
            <a:r>
              <a:rPr lang="en-US" sz="2200">
                <a:solidFill>
                  <a:srgbClr val="001E3A"/>
                </a:solidFill>
                <a:latin typeface="Garet"/>
                <a:ea typeface="Garet"/>
                <a:cs typeface="Garet"/>
                <a:sym typeface="Garet"/>
              </a:rPr>
              <a:t>phầm đã chọn, điều chỉnh số lượng.</a:t>
            </a:r>
          </a:p>
        </p:txBody>
      </p:sp>
      <p:sp>
        <p:nvSpPr>
          <p:cNvPr name="TextBox 36" id="36"/>
          <p:cNvSpPr txBox="true"/>
          <p:nvPr/>
        </p:nvSpPr>
        <p:spPr>
          <a:xfrm rot="0">
            <a:off x="11617171" y="1242073"/>
            <a:ext cx="2507405" cy="2352675"/>
          </a:xfrm>
          <a:prstGeom prst="rect">
            <a:avLst/>
          </a:prstGeom>
        </p:spPr>
        <p:txBody>
          <a:bodyPr anchor="t" rtlCol="false" tIns="0" lIns="0" bIns="0" rIns="0">
            <a:spAutoFit/>
          </a:bodyPr>
          <a:lstStyle/>
          <a:p>
            <a:pPr algn="ctr">
              <a:lnSpc>
                <a:spcPts val="3220"/>
              </a:lnSpc>
            </a:pPr>
            <a:r>
              <a:rPr lang="en-US" sz="2300" b="true">
                <a:solidFill>
                  <a:srgbClr val="001E3A"/>
                </a:solidFill>
                <a:latin typeface="Garet Bold"/>
                <a:ea typeface="Garet Bold"/>
                <a:cs typeface="Garet Bold"/>
                <a:sym typeface="Garet Bold"/>
              </a:rPr>
              <a:t>Thanh toán</a:t>
            </a:r>
          </a:p>
          <a:p>
            <a:pPr algn="ctr">
              <a:lnSpc>
                <a:spcPts val="3220"/>
              </a:lnSpc>
            </a:pPr>
            <a:r>
              <a:rPr lang="en-US" sz="2300" b="true">
                <a:solidFill>
                  <a:srgbClr val="001E3A"/>
                </a:solidFill>
                <a:latin typeface="Garet Bold"/>
                <a:ea typeface="Garet Bold"/>
                <a:cs typeface="Garet Bold"/>
                <a:sym typeface="Garet Bold"/>
              </a:rPr>
              <a:t>(Checkout)</a:t>
            </a:r>
          </a:p>
          <a:p>
            <a:pPr algn="l">
              <a:lnSpc>
                <a:spcPts val="3080"/>
              </a:lnSpc>
            </a:pPr>
            <a:r>
              <a:rPr lang="en-US" sz="2200">
                <a:solidFill>
                  <a:srgbClr val="001E3A"/>
                </a:solidFill>
                <a:latin typeface="Garet"/>
                <a:ea typeface="Garet"/>
                <a:cs typeface="Garet"/>
                <a:sym typeface="Garet"/>
              </a:rPr>
              <a:t>Quy trinh điền thông tin giao hàng và xác nhận đơn giản.</a:t>
            </a:r>
          </a:p>
        </p:txBody>
      </p:sp>
      <p:sp>
        <p:nvSpPr>
          <p:cNvPr name="TextBox 37" id="37"/>
          <p:cNvSpPr txBox="true"/>
          <p:nvPr/>
        </p:nvSpPr>
        <p:spPr>
          <a:xfrm rot="0">
            <a:off x="15165301" y="1242073"/>
            <a:ext cx="2507405" cy="2352675"/>
          </a:xfrm>
          <a:prstGeom prst="rect">
            <a:avLst/>
          </a:prstGeom>
        </p:spPr>
        <p:txBody>
          <a:bodyPr anchor="t" rtlCol="false" tIns="0" lIns="0" bIns="0" rIns="0">
            <a:spAutoFit/>
          </a:bodyPr>
          <a:lstStyle/>
          <a:p>
            <a:pPr algn="ctr">
              <a:lnSpc>
                <a:spcPts val="3220"/>
              </a:lnSpc>
            </a:pPr>
            <a:r>
              <a:rPr lang="en-US" sz="2300" b="true">
                <a:solidFill>
                  <a:srgbClr val="001E3A"/>
                </a:solidFill>
                <a:latin typeface="Garet Bold"/>
                <a:ea typeface="Garet Bold"/>
                <a:cs typeface="Garet Bold"/>
                <a:sym typeface="Garet Bold"/>
              </a:rPr>
              <a:t>Theo döi</a:t>
            </a:r>
          </a:p>
          <a:p>
            <a:pPr algn="ctr">
              <a:lnSpc>
                <a:spcPts val="3220"/>
              </a:lnSpc>
            </a:pPr>
            <a:r>
              <a:rPr lang="en-US" sz="2300" b="true">
                <a:solidFill>
                  <a:srgbClr val="001E3A"/>
                </a:solidFill>
                <a:latin typeface="Garet Bold"/>
                <a:ea typeface="Garet Bold"/>
                <a:cs typeface="Garet Bold"/>
                <a:sym typeface="Garet Bold"/>
              </a:rPr>
              <a:t>Đơn hàng</a:t>
            </a:r>
          </a:p>
          <a:p>
            <a:pPr algn="l">
              <a:lnSpc>
                <a:spcPts val="3080"/>
              </a:lnSpc>
            </a:pPr>
            <a:r>
              <a:rPr lang="en-US" sz="2200">
                <a:solidFill>
                  <a:srgbClr val="001E3A"/>
                </a:solidFill>
                <a:latin typeface="Garet"/>
                <a:ea typeface="Garet"/>
                <a:cs typeface="Garet"/>
                <a:sym typeface="Garet"/>
              </a:rPr>
              <a:t>Kiểm tra</a:t>
            </a:r>
            <a:r>
              <a:rPr lang="en-US" sz="2200">
                <a:solidFill>
                  <a:srgbClr val="001E3A"/>
                </a:solidFill>
                <a:latin typeface="Garet"/>
                <a:ea typeface="Garet"/>
                <a:cs typeface="Garet"/>
                <a:sym typeface="Garet"/>
              </a:rPr>
              <a:t> trạng thái đơn hàng trong lịch sử mua sắm.</a:t>
            </a:r>
          </a:p>
        </p:txBody>
      </p:sp>
      <p:grpSp>
        <p:nvGrpSpPr>
          <p:cNvPr name="Group 38" id="38"/>
          <p:cNvGrpSpPr/>
          <p:nvPr/>
        </p:nvGrpSpPr>
        <p:grpSpPr>
          <a:xfrm rot="0">
            <a:off x="4304008" y="3963569"/>
            <a:ext cx="2835817" cy="4856614"/>
            <a:chOff x="0" y="0"/>
            <a:chExt cx="439342" cy="752417"/>
          </a:xfrm>
        </p:grpSpPr>
        <p:sp>
          <p:nvSpPr>
            <p:cNvPr name="Freeform 39" id="39"/>
            <p:cNvSpPr/>
            <p:nvPr/>
          </p:nvSpPr>
          <p:spPr>
            <a:xfrm flipH="false" flipV="false" rot="0">
              <a:off x="0" y="0"/>
              <a:ext cx="439342" cy="752417"/>
            </a:xfrm>
            <a:custGeom>
              <a:avLst/>
              <a:gdLst/>
              <a:ahLst/>
              <a:cxnLst/>
              <a:rect r="r" b="b" t="t" l="l"/>
              <a:pathLst>
                <a:path h="752417" w="439342">
                  <a:moveTo>
                    <a:pt x="0" y="0"/>
                  </a:moveTo>
                  <a:lnTo>
                    <a:pt x="439342" y="0"/>
                  </a:lnTo>
                  <a:lnTo>
                    <a:pt x="439342" y="752417"/>
                  </a:lnTo>
                  <a:lnTo>
                    <a:pt x="0" y="752417"/>
                  </a:lnTo>
                  <a:close/>
                </a:path>
              </a:pathLst>
            </a:custGeom>
            <a:blipFill>
              <a:blip r:embed="rId7"/>
              <a:stretch>
                <a:fillRect l="-26895" t="0" r="-26895" b="0"/>
              </a:stretch>
            </a:blipFill>
          </p:spPr>
        </p:sp>
      </p:grpSp>
      <p:grpSp>
        <p:nvGrpSpPr>
          <p:cNvPr name="Group 40" id="40"/>
          <p:cNvGrpSpPr/>
          <p:nvPr/>
        </p:nvGrpSpPr>
        <p:grpSpPr>
          <a:xfrm rot="0">
            <a:off x="7860942" y="4035278"/>
            <a:ext cx="2835817" cy="2216445"/>
            <a:chOff x="0" y="0"/>
            <a:chExt cx="439342" cy="343385"/>
          </a:xfrm>
        </p:grpSpPr>
        <p:sp>
          <p:nvSpPr>
            <p:cNvPr name="Freeform 41" id="41"/>
            <p:cNvSpPr/>
            <p:nvPr/>
          </p:nvSpPr>
          <p:spPr>
            <a:xfrm flipH="false" flipV="false" rot="0">
              <a:off x="0" y="0"/>
              <a:ext cx="439342" cy="343385"/>
            </a:xfrm>
            <a:custGeom>
              <a:avLst/>
              <a:gdLst/>
              <a:ahLst/>
              <a:cxnLst/>
              <a:rect r="r" b="b" t="t" l="l"/>
              <a:pathLst>
                <a:path h="343385" w="439342">
                  <a:moveTo>
                    <a:pt x="0" y="0"/>
                  </a:moveTo>
                  <a:lnTo>
                    <a:pt x="439342" y="0"/>
                  </a:lnTo>
                  <a:lnTo>
                    <a:pt x="439342" y="343385"/>
                  </a:lnTo>
                  <a:lnTo>
                    <a:pt x="0" y="343385"/>
                  </a:lnTo>
                  <a:close/>
                </a:path>
              </a:pathLst>
            </a:custGeom>
            <a:blipFill>
              <a:blip r:embed="rId8"/>
              <a:stretch>
                <a:fillRect l="-2940" t="0" r="-2940" b="0"/>
              </a:stretch>
            </a:blipFill>
          </p:spPr>
        </p:sp>
      </p:grpSp>
      <p:grpSp>
        <p:nvGrpSpPr>
          <p:cNvPr name="Group 42" id="42"/>
          <p:cNvGrpSpPr/>
          <p:nvPr/>
        </p:nvGrpSpPr>
        <p:grpSpPr>
          <a:xfrm rot="0">
            <a:off x="11496859" y="4017325"/>
            <a:ext cx="2835817" cy="3069670"/>
            <a:chOff x="0" y="0"/>
            <a:chExt cx="439342" cy="475572"/>
          </a:xfrm>
        </p:grpSpPr>
        <p:sp>
          <p:nvSpPr>
            <p:cNvPr name="Freeform 43" id="43"/>
            <p:cNvSpPr/>
            <p:nvPr/>
          </p:nvSpPr>
          <p:spPr>
            <a:xfrm flipH="false" flipV="false" rot="0">
              <a:off x="0" y="0"/>
              <a:ext cx="439342" cy="475572"/>
            </a:xfrm>
            <a:custGeom>
              <a:avLst/>
              <a:gdLst/>
              <a:ahLst/>
              <a:cxnLst/>
              <a:rect r="r" b="b" t="t" l="l"/>
              <a:pathLst>
                <a:path h="475572" w="439342">
                  <a:moveTo>
                    <a:pt x="0" y="0"/>
                  </a:moveTo>
                  <a:lnTo>
                    <a:pt x="439342" y="0"/>
                  </a:lnTo>
                  <a:lnTo>
                    <a:pt x="439342" y="475572"/>
                  </a:lnTo>
                  <a:lnTo>
                    <a:pt x="0" y="475572"/>
                  </a:lnTo>
                  <a:close/>
                </a:path>
              </a:pathLst>
            </a:custGeom>
            <a:blipFill>
              <a:blip r:embed="rId9"/>
              <a:stretch>
                <a:fillRect l="-2253" t="0" r="-2253" b="0"/>
              </a:stretch>
            </a:blipFill>
          </p:spPr>
        </p:sp>
      </p:grpSp>
      <p:grpSp>
        <p:nvGrpSpPr>
          <p:cNvPr name="Group 44" id="44"/>
          <p:cNvGrpSpPr/>
          <p:nvPr/>
        </p:nvGrpSpPr>
        <p:grpSpPr>
          <a:xfrm rot="0">
            <a:off x="15001095" y="4017325"/>
            <a:ext cx="2835817" cy="2374551"/>
            <a:chOff x="0" y="0"/>
            <a:chExt cx="439342" cy="367880"/>
          </a:xfrm>
        </p:grpSpPr>
        <p:sp>
          <p:nvSpPr>
            <p:cNvPr name="Freeform 45" id="45"/>
            <p:cNvSpPr/>
            <p:nvPr/>
          </p:nvSpPr>
          <p:spPr>
            <a:xfrm flipH="false" flipV="false" rot="0">
              <a:off x="0" y="0"/>
              <a:ext cx="439342" cy="367880"/>
            </a:xfrm>
            <a:custGeom>
              <a:avLst/>
              <a:gdLst/>
              <a:ahLst/>
              <a:cxnLst/>
              <a:rect r="r" b="b" t="t" l="l"/>
              <a:pathLst>
                <a:path h="367880" w="439342">
                  <a:moveTo>
                    <a:pt x="0" y="0"/>
                  </a:moveTo>
                  <a:lnTo>
                    <a:pt x="439342" y="0"/>
                  </a:lnTo>
                  <a:lnTo>
                    <a:pt x="439342" y="367880"/>
                  </a:lnTo>
                  <a:lnTo>
                    <a:pt x="0" y="367880"/>
                  </a:lnTo>
                  <a:close/>
                </a:path>
              </a:pathLst>
            </a:custGeom>
            <a:blipFill>
              <a:blip r:embed="rId10"/>
              <a:stretch>
                <a:fillRect l="-8148" t="0" r="-8148" b="0"/>
              </a:stretch>
            </a:blipFill>
          </p:spPr>
        </p:sp>
      </p:grpSp>
      <p:sp>
        <p:nvSpPr>
          <p:cNvPr name="TextBox 46" id="46"/>
          <p:cNvSpPr txBox="true"/>
          <p:nvPr/>
        </p:nvSpPr>
        <p:spPr>
          <a:xfrm rot="0">
            <a:off x="14457899" y="9278166"/>
            <a:ext cx="3008680" cy="356632"/>
          </a:xfrm>
          <a:prstGeom prst="rect">
            <a:avLst/>
          </a:prstGeom>
        </p:spPr>
        <p:txBody>
          <a:bodyPr anchor="t" rtlCol="false" tIns="0" lIns="0" bIns="0" rIns="0">
            <a:spAutoFit/>
          </a:bodyPr>
          <a:lstStyle/>
          <a:p>
            <a:pPr algn="l">
              <a:lnSpc>
                <a:spcPts val="2918"/>
              </a:lnSpc>
            </a:pPr>
            <a:r>
              <a:rPr lang="en-US" sz="2084" b="true">
                <a:solidFill>
                  <a:srgbClr val="001E3A"/>
                </a:solidFill>
                <a:latin typeface="Garet Bold"/>
                <a:ea typeface="Garet Bold"/>
                <a:cs typeface="Garet Bold"/>
                <a:sym typeface="Garet Bold"/>
              </a:rPr>
              <a:t>VPP ONLINE</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5F1E9"/>
        </a:solidFill>
      </p:bgPr>
    </p:bg>
    <p:spTree>
      <p:nvGrpSpPr>
        <p:cNvPr id="1" name=""/>
        <p:cNvGrpSpPr/>
        <p:nvPr/>
      </p:nvGrpSpPr>
      <p:grpSpPr>
        <a:xfrm>
          <a:off x="0" y="0"/>
          <a:ext cx="0" cy="0"/>
          <a:chOff x="0" y="0"/>
          <a:chExt cx="0" cy="0"/>
        </a:xfrm>
      </p:grpSpPr>
      <p:grpSp>
        <p:nvGrpSpPr>
          <p:cNvPr name="Group 2" id="2"/>
          <p:cNvGrpSpPr/>
          <p:nvPr/>
        </p:nvGrpSpPr>
        <p:grpSpPr>
          <a:xfrm rot="0">
            <a:off x="16308371" y="-3901918"/>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591568" y="8772018"/>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028700" y="10008163"/>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4416144" y="1353093"/>
            <a:ext cx="9455712" cy="7259304"/>
            <a:chOff x="0" y="0"/>
            <a:chExt cx="1464937" cy="1124656"/>
          </a:xfrm>
        </p:grpSpPr>
        <p:sp>
          <p:nvSpPr>
            <p:cNvPr name="Freeform 10" id="10"/>
            <p:cNvSpPr/>
            <p:nvPr/>
          </p:nvSpPr>
          <p:spPr>
            <a:xfrm flipH="false" flipV="false" rot="0">
              <a:off x="0" y="0"/>
              <a:ext cx="1464937" cy="1124656"/>
            </a:xfrm>
            <a:custGeom>
              <a:avLst/>
              <a:gdLst/>
              <a:ahLst/>
              <a:cxnLst/>
              <a:rect r="r" b="b" t="t" l="l"/>
              <a:pathLst>
                <a:path h="1124656" w="1464937">
                  <a:moveTo>
                    <a:pt x="0" y="0"/>
                  </a:moveTo>
                  <a:lnTo>
                    <a:pt x="1464937" y="0"/>
                  </a:lnTo>
                  <a:lnTo>
                    <a:pt x="1464937" y="1124656"/>
                  </a:lnTo>
                  <a:lnTo>
                    <a:pt x="0" y="1124656"/>
                  </a:lnTo>
                  <a:close/>
                </a:path>
              </a:pathLst>
            </a:custGeom>
            <a:blipFill>
              <a:blip r:embed="rId4"/>
              <a:stretch>
                <a:fillRect l="0" t="-5181" r="0" b="-5181"/>
              </a:stretch>
            </a:blipFill>
          </p:spPr>
        </p:sp>
      </p:grpSp>
      <p:sp>
        <p:nvSpPr>
          <p:cNvPr name="TextBox 11" id="11"/>
          <p:cNvSpPr txBox="true"/>
          <p:nvPr/>
        </p:nvSpPr>
        <p:spPr>
          <a:xfrm rot="0">
            <a:off x="1028700" y="164259"/>
            <a:ext cx="16046201" cy="691515"/>
          </a:xfrm>
          <a:prstGeom prst="rect">
            <a:avLst/>
          </a:prstGeom>
        </p:spPr>
        <p:txBody>
          <a:bodyPr anchor="t" rtlCol="false" tIns="0" lIns="0" bIns="0" rIns="0">
            <a:spAutoFit/>
          </a:bodyPr>
          <a:lstStyle/>
          <a:p>
            <a:pPr algn="l">
              <a:lnSpc>
                <a:spcPts val="4980"/>
              </a:lnSpc>
            </a:pPr>
            <a:r>
              <a:rPr lang="en-US" sz="6000" b="true">
                <a:solidFill>
                  <a:srgbClr val="001E3A"/>
                </a:solidFill>
                <a:latin typeface="Garet Ultra-Bold"/>
                <a:ea typeface="Garet Ultra-Bold"/>
                <a:cs typeface="Garet Ultra-Bold"/>
                <a:sym typeface="Garet Ultra-Bold"/>
              </a:rPr>
              <a:t>Giao diện quản trị (Admin Dashboard)</a:t>
            </a:r>
          </a:p>
        </p:txBody>
      </p:sp>
      <p:sp>
        <p:nvSpPr>
          <p:cNvPr name="TextBox 12" id="12"/>
          <p:cNvSpPr txBox="true"/>
          <p:nvPr/>
        </p:nvSpPr>
        <p:spPr>
          <a:xfrm rot="0">
            <a:off x="262170" y="1314993"/>
            <a:ext cx="3865371" cy="2325370"/>
          </a:xfrm>
          <a:prstGeom prst="rect">
            <a:avLst/>
          </a:prstGeom>
        </p:spPr>
        <p:txBody>
          <a:bodyPr anchor="t" rtlCol="false" tIns="0" lIns="0" bIns="0" rIns="0">
            <a:spAutoFit/>
          </a:bodyPr>
          <a:lstStyle/>
          <a:p>
            <a:pPr algn="ctr">
              <a:lnSpc>
                <a:spcPts val="3080"/>
              </a:lnSpc>
            </a:pPr>
            <a:r>
              <a:rPr lang="en-US" sz="2200" b="true">
                <a:solidFill>
                  <a:srgbClr val="001E3A"/>
                </a:solidFill>
                <a:latin typeface="Garet Bold"/>
                <a:ea typeface="Garet Bold"/>
                <a:cs typeface="Garet Bold"/>
                <a:sym typeface="Garet Bold"/>
              </a:rPr>
              <a:t>Dashboard Tổng Quan</a:t>
            </a:r>
          </a:p>
          <a:p>
            <a:pPr algn="l">
              <a:lnSpc>
                <a:spcPts val="3080"/>
              </a:lnSpc>
            </a:pPr>
            <a:r>
              <a:rPr lang="en-US" sz="2200">
                <a:solidFill>
                  <a:srgbClr val="001E3A"/>
                </a:solidFill>
                <a:latin typeface="Garet"/>
                <a:ea typeface="Garet"/>
                <a:cs typeface="Garet"/>
                <a:sym typeface="Garet"/>
              </a:rPr>
              <a:t>Cung cấp cái nhìn tổng quan về doanh thu, đơn hàng mới, và các sản phẩm sắp hết hàng theo thời gian thực.</a:t>
            </a:r>
          </a:p>
        </p:txBody>
      </p:sp>
      <p:sp>
        <p:nvSpPr>
          <p:cNvPr name="TextBox 13" id="13"/>
          <p:cNvSpPr txBox="true"/>
          <p:nvPr/>
        </p:nvSpPr>
        <p:spPr>
          <a:xfrm rot="0">
            <a:off x="13691401" y="9363075"/>
            <a:ext cx="559219" cy="339215"/>
          </a:xfrm>
          <a:prstGeom prst="rect">
            <a:avLst/>
          </a:prstGeom>
        </p:spPr>
        <p:txBody>
          <a:bodyPr anchor="t" rtlCol="false" tIns="0" lIns="0" bIns="0" rIns="0">
            <a:spAutoFit/>
          </a:bodyPr>
          <a:lstStyle/>
          <a:p>
            <a:pPr algn="ctr">
              <a:lnSpc>
                <a:spcPts val="2440"/>
              </a:lnSpc>
            </a:pPr>
            <a:r>
              <a:rPr lang="en-US" sz="2940" b="true">
                <a:solidFill>
                  <a:srgbClr val="001E3A"/>
                </a:solidFill>
                <a:latin typeface="Garet Ultra-Bold"/>
                <a:ea typeface="Garet Ultra-Bold"/>
                <a:cs typeface="Garet Ultra-Bold"/>
                <a:sym typeface="Garet Ultra-Bold"/>
              </a:rPr>
              <a:t>7</a:t>
            </a:r>
          </a:p>
        </p:txBody>
      </p:sp>
      <p:sp>
        <p:nvSpPr>
          <p:cNvPr name="TextBox 14" id="14"/>
          <p:cNvSpPr txBox="true"/>
          <p:nvPr/>
        </p:nvSpPr>
        <p:spPr>
          <a:xfrm rot="0">
            <a:off x="14931087" y="6151880"/>
            <a:ext cx="2754568" cy="2715895"/>
          </a:xfrm>
          <a:prstGeom prst="rect">
            <a:avLst/>
          </a:prstGeom>
        </p:spPr>
        <p:txBody>
          <a:bodyPr anchor="t" rtlCol="false" tIns="0" lIns="0" bIns="0" rIns="0">
            <a:spAutoFit/>
          </a:bodyPr>
          <a:lstStyle/>
          <a:p>
            <a:pPr algn="ctr">
              <a:lnSpc>
                <a:spcPts val="3080"/>
              </a:lnSpc>
            </a:pPr>
            <a:r>
              <a:rPr lang="en-US" sz="2200" b="true">
                <a:solidFill>
                  <a:srgbClr val="001E3A"/>
                </a:solidFill>
                <a:latin typeface="Garet Bold"/>
                <a:ea typeface="Garet Bold"/>
                <a:cs typeface="Garet Bold"/>
                <a:sym typeface="Garet Bold"/>
              </a:rPr>
              <a:t>Hỗ trợ Khách hàng Tức thì</a:t>
            </a:r>
          </a:p>
          <a:p>
            <a:pPr algn="l">
              <a:lnSpc>
                <a:spcPts val="3080"/>
              </a:lnSpc>
            </a:pPr>
            <a:r>
              <a:rPr lang="en-US" sz="2200">
                <a:solidFill>
                  <a:srgbClr val="001E3A"/>
                </a:solidFill>
                <a:latin typeface="Garet"/>
                <a:ea typeface="Garet"/>
                <a:cs typeface="Garet"/>
                <a:sym typeface="Garet"/>
              </a:rPr>
              <a:t>Xem lịch sử mu</a:t>
            </a:r>
            <a:r>
              <a:rPr lang="en-US" sz="2200">
                <a:solidFill>
                  <a:srgbClr val="001E3A"/>
                </a:solidFill>
                <a:latin typeface="Garet"/>
                <a:ea typeface="Garet"/>
                <a:cs typeface="Garet"/>
                <a:sym typeface="Garet"/>
              </a:rPr>
              <a:t>a hàng của khách và phản hồi các yêu cầu hỗ trợ qua chat trực tuyến.</a:t>
            </a:r>
          </a:p>
        </p:txBody>
      </p:sp>
      <p:sp>
        <p:nvSpPr>
          <p:cNvPr name="TextBox 15" id="15"/>
          <p:cNvSpPr txBox="true"/>
          <p:nvPr/>
        </p:nvSpPr>
        <p:spPr>
          <a:xfrm rot="0">
            <a:off x="15183372" y="1314993"/>
            <a:ext cx="2520460" cy="2325370"/>
          </a:xfrm>
          <a:prstGeom prst="rect">
            <a:avLst/>
          </a:prstGeom>
        </p:spPr>
        <p:txBody>
          <a:bodyPr anchor="t" rtlCol="false" tIns="0" lIns="0" bIns="0" rIns="0">
            <a:spAutoFit/>
          </a:bodyPr>
          <a:lstStyle/>
          <a:p>
            <a:pPr algn="ctr">
              <a:lnSpc>
                <a:spcPts val="3079"/>
              </a:lnSpc>
            </a:pPr>
            <a:r>
              <a:rPr lang="en-US" sz="2199" b="true">
                <a:solidFill>
                  <a:srgbClr val="001E3A"/>
                </a:solidFill>
                <a:latin typeface="Garet Bold"/>
                <a:ea typeface="Garet Bold"/>
                <a:cs typeface="Garet Bold"/>
                <a:sym typeface="Garet Bold"/>
              </a:rPr>
              <a:t>Xem báo cáo </a:t>
            </a:r>
          </a:p>
          <a:p>
            <a:pPr algn="l">
              <a:lnSpc>
                <a:spcPts val="3079"/>
              </a:lnSpc>
            </a:pPr>
            <a:r>
              <a:rPr lang="en-US" sz="2199">
                <a:solidFill>
                  <a:srgbClr val="001E3A"/>
                </a:solidFill>
                <a:latin typeface="Garet"/>
                <a:ea typeface="Garet"/>
                <a:cs typeface="Garet"/>
                <a:sym typeface="Garet"/>
              </a:rPr>
              <a:t>Xem báo cáo doanh thu theo tuần, tháng và quý theo thời gian thực</a:t>
            </a:r>
          </a:p>
        </p:txBody>
      </p:sp>
      <p:sp>
        <p:nvSpPr>
          <p:cNvPr name="TextBox 16" id="16"/>
          <p:cNvSpPr txBox="true"/>
          <p:nvPr/>
        </p:nvSpPr>
        <p:spPr>
          <a:xfrm rot="0">
            <a:off x="417709" y="6845762"/>
            <a:ext cx="2867258" cy="2715895"/>
          </a:xfrm>
          <a:prstGeom prst="rect">
            <a:avLst/>
          </a:prstGeom>
        </p:spPr>
        <p:txBody>
          <a:bodyPr anchor="t" rtlCol="false" tIns="0" lIns="0" bIns="0" rIns="0">
            <a:spAutoFit/>
          </a:bodyPr>
          <a:lstStyle/>
          <a:p>
            <a:pPr algn="ctr">
              <a:lnSpc>
                <a:spcPts val="3080"/>
              </a:lnSpc>
            </a:pPr>
            <a:r>
              <a:rPr lang="en-US" sz="2200" b="true">
                <a:solidFill>
                  <a:srgbClr val="001E3A"/>
                </a:solidFill>
                <a:latin typeface="Garet Bold"/>
                <a:ea typeface="Garet Bold"/>
                <a:cs typeface="Garet Bold"/>
                <a:sym typeface="Garet Bold"/>
              </a:rPr>
              <a:t>Xử lý Đơn hàng Hiệu quả</a:t>
            </a:r>
          </a:p>
          <a:p>
            <a:pPr algn="l">
              <a:lnSpc>
                <a:spcPts val="3080"/>
              </a:lnSpc>
            </a:pPr>
            <a:r>
              <a:rPr lang="en-US" sz="2200">
                <a:solidFill>
                  <a:srgbClr val="001E3A"/>
                </a:solidFill>
                <a:latin typeface="Garet"/>
                <a:ea typeface="Garet"/>
                <a:cs typeface="Garet"/>
                <a:sym typeface="Garet"/>
              </a:rPr>
              <a:t>Duyệt, xá</a:t>
            </a:r>
            <a:r>
              <a:rPr lang="en-US" sz="2200">
                <a:solidFill>
                  <a:srgbClr val="001E3A"/>
                </a:solidFill>
                <a:latin typeface="Garet"/>
                <a:ea typeface="Garet"/>
                <a:cs typeface="Garet"/>
                <a:sym typeface="Garet"/>
              </a:rPr>
              <a:t>c nhận, cập nhật trạng thái và theo dõi quá trình giao hàng của từng đơn hàng.</a:t>
            </a:r>
          </a:p>
        </p:txBody>
      </p:sp>
      <p:sp>
        <p:nvSpPr>
          <p:cNvPr name="AutoShape 17" id="17"/>
          <p:cNvSpPr/>
          <p:nvPr/>
        </p:nvSpPr>
        <p:spPr>
          <a:xfrm flipV="true">
            <a:off x="1612375" y="3640363"/>
            <a:ext cx="7531625" cy="3037467"/>
          </a:xfrm>
          <a:prstGeom prst="line">
            <a:avLst/>
          </a:prstGeom>
          <a:ln cap="flat" w="38100">
            <a:solidFill>
              <a:srgbClr val="00679C"/>
            </a:solidFill>
            <a:prstDash val="solid"/>
            <a:headEnd type="oval" len="lg" w="lg"/>
            <a:tailEnd type="none" len="sm" w="sm"/>
          </a:ln>
        </p:spPr>
      </p:sp>
      <p:sp>
        <p:nvSpPr>
          <p:cNvPr name="AutoShape 18" id="18"/>
          <p:cNvSpPr/>
          <p:nvPr/>
        </p:nvSpPr>
        <p:spPr>
          <a:xfrm>
            <a:off x="1851338" y="1179624"/>
            <a:ext cx="7292662" cy="173469"/>
          </a:xfrm>
          <a:prstGeom prst="line">
            <a:avLst/>
          </a:prstGeom>
          <a:ln cap="flat" w="38100">
            <a:solidFill>
              <a:srgbClr val="00679C"/>
            </a:solidFill>
            <a:prstDash val="solid"/>
            <a:headEnd type="oval" len="lg" w="lg"/>
            <a:tailEnd type="none" len="sm" w="sm"/>
          </a:ln>
        </p:spPr>
      </p:sp>
      <p:sp>
        <p:nvSpPr>
          <p:cNvPr name="AutoShape 19" id="19"/>
          <p:cNvSpPr/>
          <p:nvPr/>
        </p:nvSpPr>
        <p:spPr>
          <a:xfrm flipH="true">
            <a:off x="12380001" y="1179624"/>
            <a:ext cx="3736123" cy="5704238"/>
          </a:xfrm>
          <a:prstGeom prst="line">
            <a:avLst/>
          </a:prstGeom>
          <a:ln cap="flat" w="38100">
            <a:solidFill>
              <a:srgbClr val="00679C"/>
            </a:solidFill>
            <a:prstDash val="solid"/>
            <a:headEnd type="oval" len="lg" w="lg"/>
            <a:tailEnd type="none" len="sm" w="sm"/>
          </a:ln>
        </p:spPr>
      </p:sp>
      <p:sp>
        <p:nvSpPr>
          <p:cNvPr name="AutoShape 20" id="20"/>
          <p:cNvSpPr/>
          <p:nvPr/>
        </p:nvSpPr>
        <p:spPr>
          <a:xfrm flipH="true" flipV="true">
            <a:off x="9538063" y="1807706"/>
            <a:ext cx="6770308" cy="4160713"/>
          </a:xfrm>
          <a:prstGeom prst="line">
            <a:avLst/>
          </a:prstGeom>
          <a:ln cap="flat" w="38100">
            <a:solidFill>
              <a:srgbClr val="00679C"/>
            </a:solidFill>
            <a:prstDash val="solid"/>
            <a:headEnd type="oval" len="lg" w="lg"/>
            <a:tailEnd type="none" len="sm" w="sm"/>
          </a:ln>
        </p:spPr>
      </p:sp>
      <p:sp>
        <p:nvSpPr>
          <p:cNvPr name="TextBox 21" id="21"/>
          <p:cNvSpPr txBox="true"/>
          <p:nvPr/>
        </p:nvSpPr>
        <p:spPr>
          <a:xfrm rot="0">
            <a:off x="14457899" y="9278166"/>
            <a:ext cx="3008680" cy="356632"/>
          </a:xfrm>
          <a:prstGeom prst="rect">
            <a:avLst/>
          </a:prstGeom>
        </p:spPr>
        <p:txBody>
          <a:bodyPr anchor="t" rtlCol="false" tIns="0" lIns="0" bIns="0" rIns="0">
            <a:spAutoFit/>
          </a:bodyPr>
          <a:lstStyle/>
          <a:p>
            <a:pPr algn="l">
              <a:lnSpc>
                <a:spcPts val="2918"/>
              </a:lnSpc>
            </a:pPr>
            <a:r>
              <a:rPr lang="en-US" sz="2084" b="true">
                <a:solidFill>
                  <a:srgbClr val="001E3A"/>
                </a:solidFill>
                <a:latin typeface="Garet Bold"/>
                <a:ea typeface="Garet Bold"/>
                <a:cs typeface="Garet Bold"/>
                <a:sym typeface="Garet Bold"/>
              </a:rPr>
              <a:t>VPP ONLINE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5F1E9"/>
        </a:solidFill>
      </p:bgPr>
    </p:bg>
    <p:spTree>
      <p:nvGrpSpPr>
        <p:cNvPr id="1" name=""/>
        <p:cNvGrpSpPr/>
        <p:nvPr/>
      </p:nvGrpSpPr>
      <p:grpSpPr>
        <a:xfrm>
          <a:off x="0" y="0"/>
          <a:ext cx="0" cy="0"/>
          <a:chOff x="0" y="0"/>
          <a:chExt cx="0" cy="0"/>
        </a:xfrm>
      </p:grpSpPr>
      <p:grpSp>
        <p:nvGrpSpPr>
          <p:cNvPr name="Group 2" id="2"/>
          <p:cNvGrpSpPr/>
          <p:nvPr/>
        </p:nvGrpSpPr>
        <p:grpSpPr>
          <a:xfrm rot="0">
            <a:off x="16669735" y="-3976170"/>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214113" y="8291586"/>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8970121" y="1384479"/>
            <a:ext cx="7146004" cy="7119003"/>
            <a:chOff x="0" y="0"/>
            <a:chExt cx="1107103" cy="1102920"/>
          </a:xfrm>
        </p:grpSpPr>
        <p:sp>
          <p:nvSpPr>
            <p:cNvPr name="Freeform 10" id="10"/>
            <p:cNvSpPr/>
            <p:nvPr/>
          </p:nvSpPr>
          <p:spPr>
            <a:xfrm flipH="false" flipV="false" rot="0">
              <a:off x="0" y="0"/>
              <a:ext cx="1107103" cy="1102920"/>
            </a:xfrm>
            <a:custGeom>
              <a:avLst/>
              <a:gdLst/>
              <a:ahLst/>
              <a:cxnLst/>
              <a:rect r="r" b="b" t="t" l="l"/>
              <a:pathLst>
                <a:path h="1102920" w="1107103">
                  <a:moveTo>
                    <a:pt x="0" y="0"/>
                  </a:moveTo>
                  <a:lnTo>
                    <a:pt x="1107103" y="0"/>
                  </a:lnTo>
                  <a:lnTo>
                    <a:pt x="1107103" y="1102920"/>
                  </a:lnTo>
                  <a:lnTo>
                    <a:pt x="0" y="1102920"/>
                  </a:lnTo>
                  <a:close/>
                </a:path>
              </a:pathLst>
            </a:custGeom>
            <a:blipFill>
              <a:blip r:embed="rId4"/>
              <a:stretch>
                <a:fillRect l="0" t="-5890" r="0" b="-5890"/>
              </a:stretch>
            </a:blipFill>
          </p:spPr>
        </p:sp>
      </p:grpSp>
      <p:sp>
        <p:nvSpPr>
          <p:cNvPr name="TextBox 11" id="11"/>
          <p:cNvSpPr txBox="true"/>
          <p:nvPr/>
        </p:nvSpPr>
        <p:spPr>
          <a:xfrm rot="0">
            <a:off x="1194650" y="409848"/>
            <a:ext cx="18917554" cy="840740"/>
          </a:xfrm>
          <a:prstGeom prst="rect">
            <a:avLst/>
          </a:prstGeom>
        </p:spPr>
        <p:txBody>
          <a:bodyPr anchor="t" rtlCol="false" tIns="0" lIns="0" bIns="0" rIns="0">
            <a:spAutoFit/>
          </a:bodyPr>
          <a:lstStyle/>
          <a:p>
            <a:pPr algn="l">
              <a:lnSpc>
                <a:spcPts val="6655"/>
              </a:lnSpc>
            </a:pPr>
            <a:r>
              <a:rPr lang="en-US" sz="5500" b="true">
                <a:solidFill>
                  <a:srgbClr val="001E3A"/>
                </a:solidFill>
                <a:latin typeface="Garet Ultra-Bold"/>
                <a:ea typeface="Garet Ultra-Bold"/>
                <a:cs typeface="Garet Ultra-Bold"/>
                <a:sym typeface="Garet Ultra-Bold"/>
              </a:rPr>
              <a:t>Tính Năng Nổi Bật: Mua Sắm</a:t>
            </a:r>
          </a:p>
        </p:txBody>
      </p:sp>
      <p:sp>
        <p:nvSpPr>
          <p:cNvPr name="TextBox 12" id="12"/>
          <p:cNvSpPr txBox="true"/>
          <p:nvPr/>
        </p:nvSpPr>
        <p:spPr>
          <a:xfrm rot="0">
            <a:off x="1194650" y="1327329"/>
            <a:ext cx="6316218" cy="7415140"/>
          </a:xfrm>
          <a:prstGeom prst="rect">
            <a:avLst/>
          </a:prstGeom>
        </p:spPr>
        <p:txBody>
          <a:bodyPr anchor="t" rtlCol="false" tIns="0" lIns="0" bIns="0" rIns="0">
            <a:spAutoFit/>
          </a:bodyPr>
          <a:lstStyle/>
          <a:p>
            <a:pPr algn="l" marL="607831" indent="-303915" lvl="1">
              <a:lnSpc>
                <a:spcPts val="3941"/>
              </a:lnSpc>
              <a:buFont typeface="Arial"/>
              <a:buChar char="•"/>
            </a:pPr>
            <a:r>
              <a:rPr lang="en-US" b="true" sz="2815">
                <a:solidFill>
                  <a:srgbClr val="001E3A"/>
                </a:solidFill>
                <a:latin typeface="Garet Bold"/>
                <a:ea typeface="Garet Bold"/>
                <a:cs typeface="Garet Bold"/>
                <a:sym typeface="Garet Bold"/>
              </a:rPr>
              <a:t>Phân loại danh mục khoa học:</a:t>
            </a:r>
            <a:r>
              <a:rPr lang="en-US" sz="2815">
                <a:solidFill>
                  <a:srgbClr val="001E3A"/>
                </a:solidFill>
                <a:latin typeface="Garet"/>
                <a:ea typeface="Garet"/>
                <a:cs typeface="Garet"/>
                <a:sym typeface="Garet"/>
              </a:rPr>
              <a:t> Sản phẩm được tổ chức theo các nhóm rõ ràng (Bút, Sổ, Kẹp giấy ... ), giúp người dùng dễ dàng điều hướng.</a:t>
            </a:r>
          </a:p>
          <a:p>
            <a:pPr algn="l">
              <a:lnSpc>
                <a:spcPts val="3941"/>
              </a:lnSpc>
            </a:pPr>
          </a:p>
          <a:p>
            <a:pPr algn="l" marL="607831" indent="-303915" lvl="1">
              <a:lnSpc>
                <a:spcPts val="3941"/>
              </a:lnSpc>
              <a:buFont typeface="Arial"/>
              <a:buChar char="•"/>
            </a:pPr>
            <a:r>
              <a:rPr lang="en-US" b="true" sz="2815">
                <a:solidFill>
                  <a:srgbClr val="001E3A"/>
                </a:solidFill>
                <a:latin typeface="Garet Bold"/>
                <a:ea typeface="Garet Bold"/>
                <a:cs typeface="Garet Bold"/>
                <a:sym typeface="Garet Bold"/>
              </a:rPr>
              <a:t>Tìm kiếm và lọc sản phẩm thông minh:</a:t>
            </a:r>
            <a:r>
              <a:rPr lang="en-US" sz="2815">
                <a:solidFill>
                  <a:srgbClr val="001E3A"/>
                </a:solidFill>
                <a:latin typeface="Garet"/>
                <a:ea typeface="Garet"/>
                <a:cs typeface="Garet"/>
                <a:sym typeface="Garet"/>
              </a:rPr>
              <a:t> Cho phép lọc theo danh mục, khoảng giá và sắp xếp theo các tiêu chí (Giá tăng/giảm, Mới nhất).</a:t>
            </a:r>
          </a:p>
          <a:p>
            <a:pPr algn="l">
              <a:lnSpc>
                <a:spcPts val="3941"/>
              </a:lnSpc>
            </a:pPr>
          </a:p>
          <a:p>
            <a:pPr algn="l" marL="607831" indent="-303915" lvl="1">
              <a:lnSpc>
                <a:spcPts val="3941"/>
              </a:lnSpc>
              <a:buFont typeface="Arial"/>
              <a:buChar char="•"/>
            </a:pPr>
            <a:r>
              <a:rPr lang="en-US" b="true" sz="2815">
                <a:solidFill>
                  <a:srgbClr val="001E3A"/>
                </a:solidFill>
                <a:latin typeface="Garet Bold"/>
                <a:ea typeface="Garet Bold"/>
                <a:cs typeface="Garet Bold"/>
                <a:sym typeface="Garet Bold"/>
              </a:rPr>
              <a:t>Giao diện responsive, tối ưu:</a:t>
            </a:r>
            <a:r>
              <a:rPr lang="en-US" sz="2815">
                <a:solidFill>
                  <a:srgbClr val="001E3A"/>
                </a:solidFill>
                <a:latin typeface="Garet"/>
                <a:ea typeface="Garet"/>
                <a:cs typeface="Garet"/>
                <a:sym typeface="Garet"/>
              </a:rPr>
              <a:t>  đảm bảo trải nghiệm mua sắm mượt mà mọi lúc mọi nơi.</a:t>
            </a:r>
          </a:p>
        </p:txBody>
      </p:sp>
      <p:sp>
        <p:nvSpPr>
          <p:cNvPr name="TextBox 13" id="13"/>
          <p:cNvSpPr txBox="true"/>
          <p:nvPr/>
        </p:nvSpPr>
        <p:spPr>
          <a:xfrm rot="0">
            <a:off x="13691401" y="9363075"/>
            <a:ext cx="559219" cy="339215"/>
          </a:xfrm>
          <a:prstGeom prst="rect">
            <a:avLst/>
          </a:prstGeom>
        </p:spPr>
        <p:txBody>
          <a:bodyPr anchor="t" rtlCol="false" tIns="0" lIns="0" bIns="0" rIns="0">
            <a:spAutoFit/>
          </a:bodyPr>
          <a:lstStyle/>
          <a:p>
            <a:pPr algn="ctr">
              <a:lnSpc>
                <a:spcPts val="2440"/>
              </a:lnSpc>
            </a:pPr>
            <a:r>
              <a:rPr lang="en-US" sz="2940" b="true">
                <a:solidFill>
                  <a:srgbClr val="001E3A"/>
                </a:solidFill>
                <a:latin typeface="Garet Ultra-Bold"/>
                <a:ea typeface="Garet Ultra-Bold"/>
                <a:cs typeface="Garet Ultra-Bold"/>
                <a:sym typeface="Garet Ultra-Bold"/>
              </a:rPr>
              <a:t>8</a:t>
            </a:r>
          </a:p>
        </p:txBody>
      </p:sp>
      <p:sp>
        <p:nvSpPr>
          <p:cNvPr name="TextBox 14" id="14"/>
          <p:cNvSpPr txBox="true"/>
          <p:nvPr/>
        </p:nvSpPr>
        <p:spPr>
          <a:xfrm rot="0">
            <a:off x="14457899" y="9278166"/>
            <a:ext cx="3008680" cy="356632"/>
          </a:xfrm>
          <a:prstGeom prst="rect">
            <a:avLst/>
          </a:prstGeom>
        </p:spPr>
        <p:txBody>
          <a:bodyPr anchor="t" rtlCol="false" tIns="0" lIns="0" bIns="0" rIns="0">
            <a:spAutoFit/>
          </a:bodyPr>
          <a:lstStyle/>
          <a:p>
            <a:pPr algn="l">
              <a:lnSpc>
                <a:spcPts val="2918"/>
              </a:lnSpc>
            </a:pPr>
            <a:r>
              <a:rPr lang="en-US" sz="2084" b="true">
                <a:solidFill>
                  <a:srgbClr val="001E3A"/>
                </a:solidFill>
                <a:latin typeface="Garet Bold"/>
                <a:ea typeface="Garet Bold"/>
                <a:cs typeface="Garet Bold"/>
                <a:sym typeface="Garet Bold"/>
              </a:rPr>
              <a:t>VPP ONLINE</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5F1E9"/>
        </a:solidFill>
      </p:bgPr>
    </p:bg>
    <p:spTree>
      <p:nvGrpSpPr>
        <p:cNvPr id="1" name=""/>
        <p:cNvGrpSpPr/>
        <p:nvPr/>
      </p:nvGrpSpPr>
      <p:grpSpPr>
        <a:xfrm>
          <a:off x="0" y="0"/>
          <a:ext cx="0" cy="0"/>
          <a:chOff x="0" y="0"/>
          <a:chExt cx="0" cy="0"/>
        </a:xfrm>
      </p:grpSpPr>
      <p:grpSp>
        <p:nvGrpSpPr>
          <p:cNvPr name="Group 2" id="2"/>
          <p:cNvGrpSpPr/>
          <p:nvPr/>
        </p:nvGrpSpPr>
        <p:grpSpPr>
          <a:xfrm rot="0">
            <a:off x="16116124" y="-4115022"/>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161140" y="789650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70339" y="10056459"/>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1859370" y="2030375"/>
            <a:ext cx="5085384" cy="5246370"/>
            <a:chOff x="0" y="0"/>
            <a:chExt cx="787859" cy="812800"/>
          </a:xfrm>
        </p:grpSpPr>
        <p:sp>
          <p:nvSpPr>
            <p:cNvPr name="Freeform 10" id="10"/>
            <p:cNvSpPr/>
            <p:nvPr/>
          </p:nvSpPr>
          <p:spPr>
            <a:xfrm flipH="false" flipV="false" rot="0">
              <a:off x="0" y="0"/>
              <a:ext cx="787859" cy="812800"/>
            </a:xfrm>
            <a:custGeom>
              <a:avLst/>
              <a:gdLst/>
              <a:ahLst/>
              <a:cxnLst/>
              <a:rect r="r" b="b" t="t" l="l"/>
              <a:pathLst>
                <a:path h="812800" w="787859">
                  <a:moveTo>
                    <a:pt x="0" y="0"/>
                  </a:moveTo>
                  <a:lnTo>
                    <a:pt x="787859" y="0"/>
                  </a:lnTo>
                  <a:lnTo>
                    <a:pt x="787859" y="812800"/>
                  </a:lnTo>
                  <a:lnTo>
                    <a:pt x="0" y="812800"/>
                  </a:lnTo>
                  <a:close/>
                </a:path>
              </a:pathLst>
            </a:custGeom>
            <a:blipFill>
              <a:blip r:embed="rId4"/>
              <a:stretch>
                <a:fillRect l="0" t="-199" r="0" b="-199"/>
              </a:stretch>
            </a:blipFill>
          </p:spPr>
        </p:sp>
      </p:grpSp>
      <p:grpSp>
        <p:nvGrpSpPr>
          <p:cNvPr name="Group 11" id="11"/>
          <p:cNvGrpSpPr/>
          <p:nvPr/>
        </p:nvGrpSpPr>
        <p:grpSpPr>
          <a:xfrm rot="0">
            <a:off x="9416126" y="2030375"/>
            <a:ext cx="7323088" cy="5246370"/>
            <a:chOff x="0" y="0"/>
            <a:chExt cx="1134538" cy="812800"/>
          </a:xfrm>
        </p:grpSpPr>
        <p:sp>
          <p:nvSpPr>
            <p:cNvPr name="Freeform 12" id="12"/>
            <p:cNvSpPr/>
            <p:nvPr/>
          </p:nvSpPr>
          <p:spPr>
            <a:xfrm flipH="false" flipV="false" rot="0">
              <a:off x="0" y="0"/>
              <a:ext cx="1134538" cy="812800"/>
            </a:xfrm>
            <a:custGeom>
              <a:avLst/>
              <a:gdLst/>
              <a:ahLst/>
              <a:cxnLst/>
              <a:rect r="r" b="b" t="t" l="l"/>
              <a:pathLst>
                <a:path h="812800" w="1134538">
                  <a:moveTo>
                    <a:pt x="0" y="0"/>
                  </a:moveTo>
                  <a:lnTo>
                    <a:pt x="1134538" y="0"/>
                  </a:lnTo>
                  <a:lnTo>
                    <a:pt x="1134538" y="812800"/>
                  </a:lnTo>
                  <a:lnTo>
                    <a:pt x="0" y="812800"/>
                  </a:lnTo>
                  <a:close/>
                </a:path>
              </a:pathLst>
            </a:custGeom>
            <a:blipFill>
              <a:blip r:embed="rId5"/>
              <a:stretch>
                <a:fillRect l="0" t="-250" r="0" b="-250"/>
              </a:stretch>
            </a:blipFill>
          </p:spPr>
        </p:sp>
      </p:grpSp>
      <p:grpSp>
        <p:nvGrpSpPr>
          <p:cNvPr name="Group 13" id="13"/>
          <p:cNvGrpSpPr/>
          <p:nvPr/>
        </p:nvGrpSpPr>
        <p:grpSpPr>
          <a:xfrm rot="0">
            <a:off x="1755632" y="7533920"/>
            <a:ext cx="734523" cy="626074"/>
            <a:chOff x="0" y="0"/>
            <a:chExt cx="113797" cy="96995"/>
          </a:xfrm>
        </p:grpSpPr>
        <p:sp>
          <p:nvSpPr>
            <p:cNvPr name="Freeform 14" id="14"/>
            <p:cNvSpPr/>
            <p:nvPr/>
          </p:nvSpPr>
          <p:spPr>
            <a:xfrm flipH="false" flipV="false" rot="0">
              <a:off x="0" y="0"/>
              <a:ext cx="113797" cy="96995"/>
            </a:xfrm>
            <a:custGeom>
              <a:avLst/>
              <a:gdLst/>
              <a:ahLst/>
              <a:cxnLst/>
              <a:rect r="r" b="b" t="t" l="l"/>
              <a:pathLst>
                <a:path h="96995" w="113797">
                  <a:moveTo>
                    <a:pt x="0" y="0"/>
                  </a:moveTo>
                  <a:lnTo>
                    <a:pt x="113797" y="0"/>
                  </a:lnTo>
                  <a:lnTo>
                    <a:pt x="113797" y="96995"/>
                  </a:lnTo>
                  <a:lnTo>
                    <a:pt x="0" y="96995"/>
                  </a:lnTo>
                  <a:close/>
                </a:path>
              </a:pathLst>
            </a:custGeom>
            <a:blipFill>
              <a:blip r:embed="rId6"/>
              <a:stretch>
                <a:fillRect l="0" t="-19659" r="0" b="-19659"/>
              </a:stretch>
            </a:blipFill>
          </p:spPr>
        </p:sp>
      </p:grpSp>
      <p:grpSp>
        <p:nvGrpSpPr>
          <p:cNvPr name="Group 15" id="15"/>
          <p:cNvGrpSpPr/>
          <p:nvPr/>
        </p:nvGrpSpPr>
        <p:grpSpPr>
          <a:xfrm rot="0">
            <a:off x="1755632" y="8516265"/>
            <a:ext cx="734523" cy="626074"/>
            <a:chOff x="0" y="0"/>
            <a:chExt cx="113797" cy="96995"/>
          </a:xfrm>
        </p:grpSpPr>
        <p:sp>
          <p:nvSpPr>
            <p:cNvPr name="Freeform 16" id="16"/>
            <p:cNvSpPr/>
            <p:nvPr/>
          </p:nvSpPr>
          <p:spPr>
            <a:xfrm flipH="false" flipV="false" rot="0">
              <a:off x="0" y="0"/>
              <a:ext cx="113797" cy="96995"/>
            </a:xfrm>
            <a:custGeom>
              <a:avLst/>
              <a:gdLst/>
              <a:ahLst/>
              <a:cxnLst/>
              <a:rect r="r" b="b" t="t" l="l"/>
              <a:pathLst>
                <a:path h="96995" w="113797">
                  <a:moveTo>
                    <a:pt x="0" y="0"/>
                  </a:moveTo>
                  <a:lnTo>
                    <a:pt x="113797" y="0"/>
                  </a:lnTo>
                  <a:lnTo>
                    <a:pt x="113797" y="96995"/>
                  </a:lnTo>
                  <a:lnTo>
                    <a:pt x="0" y="96995"/>
                  </a:lnTo>
                  <a:close/>
                </a:path>
              </a:pathLst>
            </a:custGeom>
            <a:blipFill>
              <a:blip r:embed="rId7"/>
              <a:stretch>
                <a:fillRect l="-138" t="0" r="-138" b="0"/>
              </a:stretch>
            </a:blipFill>
          </p:spPr>
        </p:sp>
      </p:grpSp>
      <p:grpSp>
        <p:nvGrpSpPr>
          <p:cNvPr name="Group 17" id="17"/>
          <p:cNvGrpSpPr/>
          <p:nvPr/>
        </p:nvGrpSpPr>
        <p:grpSpPr>
          <a:xfrm rot="0">
            <a:off x="9144000" y="7533920"/>
            <a:ext cx="734523" cy="626074"/>
            <a:chOff x="0" y="0"/>
            <a:chExt cx="113797" cy="96995"/>
          </a:xfrm>
        </p:grpSpPr>
        <p:sp>
          <p:nvSpPr>
            <p:cNvPr name="Freeform 18" id="18"/>
            <p:cNvSpPr/>
            <p:nvPr/>
          </p:nvSpPr>
          <p:spPr>
            <a:xfrm flipH="false" flipV="false" rot="0">
              <a:off x="0" y="0"/>
              <a:ext cx="113797" cy="96995"/>
            </a:xfrm>
            <a:custGeom>
              <a:avLst/>
              <a:gdLst/>
              <a:ahLst/>
              <a:cxnLst/>
              <a:rect r="r" b="b" t="t" l="l"/>
              <a:pathLst>
                <a:path h="96995" w="113797">
                  <a:moveTo>
                    <a:pt x="0" y="0"/>
                  </a:moveTo>
                  <a:lnTo>
                    <a:pt x="113797" y="0"/>
                  </a:lnTo>
                  <a:lnTo>
                    <a:pt x="113797" y="96995"/>
                  </a:lnTo>
                  <a:lnTo>
                    <a:pt x="0" y="96995"/>
                  </a:lnTo>
                  <a:close/>
                </a:path>
              </a:pathLst>
            </a:custGeom>
            <a:blipFill>
              <a:blip r:embed="rId8"/>
              <a:stretch>
                <a:fillRect l="0" t="-2143" r="0" b="-2143"/>
              </a:stretch>
            </a:blipFill>
          </p:spPr>
        </p:sp>
      </p:grpSp>
      <p:grpSp>
        <p:nvGrpSpPr>
          <p:cNvPr name="Group 19" id="19"/>
          <p:cNvGrpSpPr/>
          <p:nvPr/>
        </p:nvGrpSpPr>
        <p:grpSpPr>
          <a:xfrm rot="0">
            <a:off x="9144000" y="8516265"/>
            <a:ext cx="734523" cy="626074"/>
            <a:chOff x="0" y="0"/>
            <a:chExt cx="113797" cy="96995"/>
          </a:xfrm>
        </p:grpSpPr>
        <p:sp>
          <p:nvSpPr>
            <p:cNvPr name="Freeform 20" id="20"/>
            <p:cNvSpPr/>
            <p:nvPr/>
          </p:nvSpPr>
          <p:spPr>
            <a:xfrm flipH="false" flipV="false" rot="0">
              <a:off x="0" y="0"/>
              <a:ext cx="113797" cy="96995"/>
            </a:xfrm>
            <a:custGeom>
              <a:avLst/>
              <a:gdLst/>
              <a:ahLst/>
              <a:cxnLst/>
              <a:rect r="r" b="b" t="t" l="l"/>
              <a:pathLst>
                <a:path h="96995" w="113797">
                  <a:moveTo>
                    <a:pt x="0" y="0"/>
                  </a:moveTo>
                  <a:lnTo>
                    <a:pt x="113797" y="0"/>
                  </a:lnTo>
                  <a:lnTo>
                    <a:pt x="113797" y="96995"/>
                  </a:lnTo>
                  <a:lnTo>
                    <a:pt x="0" y="96995"/>
                  </a:lnTo>
                  <a:close/>
                </a:path>
              </a:pathLst>
            </a:custGeom>
            <a:blipFill>
              <a:blip r:embed="rId9"/>
              <a:stretch>
                <a:fillRect l="0" t="-14337" r="0" b="-14337"/>
              </a:stretch>
            </a:blipFill>
          </p:spPr>
        </p:sp>
      </p:grpSp>
      <p:sp>
        <p:nvSpPr>
          <p:cNvPr name="TextBox 21" id="21"/>
          <p:cNvSpPr txBox="true"/>
          <p:nvPr/>
        </p:nvSpPr>
        <p:spPr>
          <a:xfrm rot="0">
            <a:off x="1028700" y="312700"/>
            <a:ext cx="15778908" cy="817245"/>
          </a:xfrm>
          <a:prstGeom prst="rect">
            <a:avLst/>
          </a:prstGeom>
        </p:spPr>
        <p:txBody>
          <a:bodyPr anchor="t" rtlCol="false" tIns="0" lIns="0" bIns="0" rIns="0">
            <a:spAutoFit/>
          </a:bodyPr>
          <a:lstStyle/>
          <a:p>
            <a:pPr algn="l">
              <a:lnSpc>
                <a:spcPts val="6240"/>
              </a:lnSpc>
            </a:pPr>
            <a:r>
              <a:rPr lang="en-US" sz="6000" b="true">
                <a:solidFill>
                  <a:srgbClr val="001E3A"/>
                </a:solidFill>
                <a:latin typeface="Garet Ultra-Bold"/>
                <a:ea typeface="Garet Ultra-Bold"/>
                <a:cs typeface="Garet Ultra-Bold"/>
                <a:sym typeface="Garet Ultra-Bold"/>
              </a:rPr>
              <a:t>Tinh Năng Nổi Bật: Quy Trình Đặt Hàng</a:t>
            </a:r>
          </a:p>
        </p:txBody>
      </p:sp>
      <p:sp>
        <p:nvSpPr>
          <p:cNvPr name="TextBox 22" id="22"/>
          <p:cNvSpPr txBox="true"/>
          <p:nvPr/>
        </p:nvSpPr>
        <p:spPr>
          <a:xfrm rot="0">
            <a:off x="1548786" y="1291870"/>
            <a:ext cx="5706552" cy="481330"/>
          </a:xfrm>
          <a:prstGeom prst="rect">
            <a:avLst/>
          </a:prstGeom>
        </p:spPr>
        <p:txBody>
          <a:bodyPr anchor="t" rtlCol="false" tIns="0" lIns="0" bIns="0" rIns="0">
            <a:spAutoFit/>
          </a:bodyPr>
          <a:lstStyle/>
          <a:p>
            <a:pPr algn="l">
              <a:lnSpc>
                <a:spcPts val="3919"/>
              </a:lnSpc>
            </a:pPr>
            <a:r>
              <a:rPr lang="en-US" sz="2799" b="true">
                <a:solidFill>
                  <a:srgbClr val="001E3A"/>
                </a:solidFill>
                <a:latin typeface="Garet Bold"/>
                <a:ea typeface="Garet Bold"/>
                <a:cs typeface="Garet Bold"/>
                <a:sym typeface="Garet Bold"/>
              </a:rPr>
              <a:t>Quy trình thanh toán tinh gọn</a:t>
            </a:r>
          </a:p>
        </p:txBody>
      </p:sp>
      <p:sp>
        <p:nvSpPr>
          <p:cNvPr name="TextBox 23" id="23"/>
          <p:cNvSpPr txBox="true"/>
          <p:nvPr/>
        </p:nvSpPr>
        <p:spPr>
          <a:xfrm rot="0">
            <a:off x="13691401" y="9363075"/>
            <a:ext cx="559219" cy="339215"/>
          </a:xfrm>
          <a:prstGeom prst="rect">
            <a:avLst/>
          </a:prstGeom>
        </p:spPr>
        <p:txBody>
          <a:bodyPr anchor="t" rtlCol="false" tIns="0" lIns="0" bIns="0" rIns="0">
            <a:spAutoFit/>
          </a:bodyPr>
          <a:lstStyle/>
          <a:p>
            <a:pPr algn="ctr">
              <a:lnSpc>
                <a:spcPts val="2440"/>
              </a:lnSpc>
            </a:pPr>
            <a:r>
              <a:rPr lang="en-US" sz="2940" b="true">
                <a:solidFill>
                  <a:srgbClr val="001E3A"/>
                </a:solidFill>
                <a:latin typeface="Garet Ultra-Bold"/>
                <a:ea typeface="Garet Ultra-Bold"/>
                <a:cs typeface="Garet Ultra-Bold"/>
                <a:sym typeface="Garet Ultra-Bold"/>
              </a:rPr>
              <a:t>9</a:t>
            </a:r>
          </a:p>
        </p:txBody>
      </p:sp>
      <p:sp>
        <p:nvSpPr>
          <p:cNvPr name="TextBox 24" id="24"/>
          <p:cNvSpPr txBox="true"/>
          <p:nvPr/>
        </p:nvSpPr>
        <p:spPr>
          <a:xfrm rot="0">
            <a:off x="9867083" y="1291870"/>
            <a:ext cx="6421175" cy="481330"/>
          </a:xfrm>
          <a:prstGeom prst="rect">
            <a:avLst/>
          </a:prstGeom>
        </p:spPr>
        <p:txBody>
          <a:bodyPr anchor="t" rtlCol="false" tIns="0" lIns="0" bIns="0" rIns="0">
            <a:spAutoFit/>
          </a:bodyPr>
          <a:lstStyle/>
          <a:p>
            <a:pPr algn="l">
              <a:lnSpc>
                <a:spcPts val="3919"/>
              </a:lnSpc>
            </a:pPr>
            <a:r>
              <a:rPr lang="en-US" sz="2799" b="true">
                <a:solidFill>
                  <a:srgbClr val="001E3A"/>
                </a:solidFill>
                <a:latin typeface="Garet Bold"/>
                <a:ea typeface="Garet Bold"/>
                <a:cs typeface="Garet Bold"/>
                <a:sym typeface="Garet Bold"/>
              </a:rPr>
              <a:t>Cập nhật trạng thái thời gian thực</a:t>
            </a:r>
          </a:p>
        </p:txBody>
      </p:sp>
      <p:sp>
        <p:nvSpPr>
          <p:cNvPr name="TextBox 25" id="25"/>
          <p:cNvSpPr txBox="true"/>
          <p:nvPr/>
        </p:nvSpPr>
        <p:spPr>
          <a:xfrm rot="0">
            <a:off x="2632102" y="7495820"/>
            <a:ext cx="5706552" cy="763270"/>
          </a:xfrm>
          <a:prstGeom prst="rect">
            <a:avLst/>
          </a:prstGeom>
        </p:spPr>
        <p:txBody>
          <a:bodyPr anchor="t" rtlCol="false" tIns="0" lIns="0" bIns="0" rIns="0">
            <a:spAutoFit/>
          </a:bodyPr>
          <a:lstStyle/>
          <a:p>
            <a:pPr algn="l">
              <a:lnSpc>
                <a:spcPts val="3080"/>
              </a:lnSpc>
            </a:pPr>
            <a:r>
              <a:rPr lang="en-US" sz="2200">
                <a:solidFill>
                  <a:srgbClr val="001E3A"/>
                </a:solidFill>
                <a:latin typeface="Garet"/>
                <a:ea typeface="Garet"/>
                <a:cs typeface="Garet"/>
                <a:sym typeface="Garet"/>
              </a:rPr>
              <a:t>Quản lý giỏ hàng linh hoạt (cập nhật số lượng, xóa sản phẩm).</a:t>
            </a:r>
          </a:p>
        </p:txBody>
      </p:sp>
      <p:sp>
        <p:nvSpPr>
          <p:cNvPr name="TextBox 26" id="26"/>
          <p:cNvSpPr txBox="true"/>
          <p:nvPr/>
        </p:nvSpPr>
        <p:spPr>
          <a:xfrm rot="0">
            <a:off x="2632102" y="8478165"/>
            <a:ext cx="5706552" cy="763270"/>
          </a:xfrm>
          <a:prstGeom prst="rect">
            <a:avLst/>
          </a:prstGeom>
        </p:spPr>
        <p:txBody>
          <a:bodyPr anchor="t" rtlCol="false" tIns="0" lIns="0" bIns="0" rIns="0">
            <a:spAutoFit/>
          </a:bodyPr>
          <a:lstStyle/>
          <a:p>
            <a:pPr algn="l">
              <a:lnSpc>
                <a:spcPts val="3080"/>
              </a:lnSpc>
            </a:pPr>
            <a:r>
              <a:rPr lang="en-US" sz="2200">
                <a:solidFill>
                  <a:srgbClr val="001E3A"/>
                </a:solidFill>
                <a:latin typeface="Garet"/>
                <a:ea typeface="Garet"/>
                <a:cs typeface="Garet"/>
                <a:sym typeface="Garet"/>
              </a:rPr>
              <a:t>Quy trình thanh toan đơn giản, ít bước, chỉ yêu cầu các thông tin cần thiết.</a:t>
            </a:r>
          </a:p>
        </p:txBody>
      </p:sp>
      <p:sp>
        <p:nvSpPr>
          <p:cNvPr name="TextBox 27" id="27"/>
          <p:cNvSpPr txBox="true"/>
          <p:nvPr/>
        </p:nvSpPr>
        <p:spPr>
          <a:xfrm rot="0">
            <a:off x="10048408" y="7495820"/>
            <a:ext cx="7210892" cy="763270"/>
          </a:xfrm>
          <a:prstGeom prst="rect">
            <a:avLst/>
          </a:prstGeom>
        </p:spPr>
        <p:txBody>
          <a:bodyPr anchor="t" rtlCol="false" tIns="0" lIns="0" bIns="0" rIns="0">
            <a:spAutoFit/>
          </a:bodyPr>
          <a:lstStyle/>
          <a:p>
            <a:pPr algn="l">
              <a:lnSpc>
                <a:spcPts val="3080"/>
              </a:lnSpc>
            </a:pPr>
            <a:r>
              <a:rPr lang="en-US" sz="2200">
                <a:solidFill>
                  <a:srgbClr val="001E3A"/>
                </a:solidFill>
                <a:latin typeface="Garet"/>
                <a:ea typeface="Garet"/>
                <a:cs typeface="Garet"/>
                <a:sym typeface="Garet"/>
              </a:rPr>
              <a:t>Khách hàng có thể xem trạng thái chi tiết của đơn hàng (Chư duyệt, Đã duyệt, Hoàn thành, Từ chối).</a:t>
            </a:r>
          </a:p>
        </p:txBody>
      </p:sp>
      <p:sp>
        <p:nvSpPr>
          <p:cNvPr name="TextBox 28" id="28"/>
          <p:cNvSpPr txBox="true"/>
          <p:nvPr/>
        </p:nvSpPr>
        <p:spPr>
          <a:xfrm rot="0">
            <a:off x="10048408" y="8478165"/>
            <a:ext cx="5706552" cy="763270"/>
          </a:xfrm>
          <a:prstGeom prst="rect">
            <a:avLst/>
          </a:prstGeom>
        </p:spPr>
        <p:txBody>
          <a:bodyPr anchor="t" rtlCol="false" tIns="0" lIns="0" bIns="0" rIns="0">
            <a:spAutoFit/>
          </a:bodyPr>
          <a:lstStyle/>
          <a:p>
            <a:pPr algn="l">
              <a:lnSpc>
                <a:spcPts val="3080"/>
              </a:lnSpc>
            </a:pPr>
            <a:r>
              <a:rPr lang="en-US" sz="2200">
                <a:solidFill>
                  <a:srgbClr val="001E3A"/>
                </a:solidFill>
                <a:latin typeface="Garet"/>
                <a:ea typeface="Garet"/>
                <a:cs typeface="Garet"/>
                <a:sym typeface="Garet"/>
              </a:rPr>
              <a:t>Lịch sử mua hàng được lưu trữ đầy đủ để dễ dàng tra cứu.</a:t>
            </a:r>
          </a:p>
        </p:txBody>
      </p:sp>
      <p:sp>
        <p:nvSpPr>
          <p:cNvPr name="TextBox 29" id="29"/>
          <p:cNvSpPr txBox="true"/>
          <p:nvPr/>
        </p:nvSpPr>
        <p:spPr>
          <a:xfrm rot="0">
            <a:off x="14457899" y="9278166"/>
            <a:ext cx="3008680" cy="356632"/>
          </a:xfrm>
          <a:prstGeom prst="rect">
            <a:avLst/>
          </a:prstGeom>
        </p:spPr>
        <p:txBody>
          <a:bodyPr anchor="t" rtlCol="false" tIns="0" lIns="0" bIns="0" rIns="0">
            <a:spAutoFit/>
          </a:bodyPr>
          <a:lstStyle/>
          <a:p>
            <a:pPr algn="l">
              <a:lnSpc>
                <a:spcPts val="2918"/>
              </a:lnSpc>
            </a:pPr>
            <a:r>
              <a:rPr lang="en-US" sz="2084" b="true">
                <a:solidFill>
                  <a:srgbClr val="001E3A"/>
                </a:solidFill>
                <a:latin typeface="Garet Bold"/>
                <a:ea typeface="Garet Bold"/>
                <a:cs typeface="Garet Bold"/>
                <a:sym typeface="Garet Bold"/>
              </a:rPr>
              <a:t>VPP ONLINE</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5F1E9"/>
        </a:solidFill>
      </p:bgPr>
    </p:bg>
    <p:spTree>
      <p:nvGrpSpPr>
        <p:cNvPr id="1" name=""/>
        <p:cNvGrpSpPr/>
        <p:nvPr/>
      </p:nvGrpSpPr>
      <p:grpSpPr>
        <a:xfrm>
          <a:off x="0" y="0"/>
          <a:ext cx="0" cy="0"/>
          <a:chOff x="0" y="0"/>
          <a:chExt cx="0" cy="0"/>
        </a:xfrm>
      </p:grpSpPr>
      <p:grpSp>
        <p:nvGrpSpPr>
          <p:cNvPr name="Group 2" id="2"/>
          <p:cNvGrpSpPr/>
          <p:nvPr/>
        </p:nvGrpSpPr>
        <p:grpSpPr>
          <a:xfrm rot="0">
            <a:off x="16116124" y="-4115022"/>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161140" y="789650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70339" y="10056459"/>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8547936" y="2520315"/>
            <a:ext cx="8400560" cy="5246370"/>
            <a:chOff x="0" y="0"/>
            <a:chExt cx="1301467" cy="812800"/>
          </a:xfrm>
        </p:grpSpPr>
        <p:sp>
          <p:nvSpPr>
            <p:cNvPr name="Freeform 10" id="10"/>
            <p:cNvSpPr/>
            <p:nvPr/>
          </p:nvSpPr>
          <p:spPr>
            <a:xfrm flipH="false" flipV="false" rot="0">
              <a:off x="0" y="0"/>
              <a:ext cx="1301467" cy="812800"/>
            </a:xfrm>
            <a:custGeom>
              <a:avLst/>
              <a:gdLst/>
              <a:ahLst/>
              <a:cxnLst/>
              <a:rect r="r" b="b" t="t" l="l"/>
              <a:pathLst>
                <a:path h="812800" w="1301467">
                  <a:moveTo>
                    <a:pt x="0" y="0"/>
                  </a:moveTo>
                  <a:lnTo>
                    <a:pt x="1301467" y="0"/>
                  </a:lnTo>
                  <a:lnTo>
                    <a:pt x="1301467" y="812800"/>
                  </a:lnTo>
                  <a:lnTo>
                    <a:pt x="0" y="812800"/>
                  </a:lnTo>
                  <a:close/>
                </a:path>
              </a:pathLst>
            </a:custGeom>
            <a:blipFill>
              <a:blip r:embed="rId4"/>
              <a:stretch>
                <a:fillRect l="-15802" t="0" r="-15802" b="0"/>
              </a:stretch>
            </a:blipFill>
          </p:spPr>
        </p:sp>
      </p:grpSp>
      <p:sp>
        <p:nvSpPr>
          <p:cNvPr name="TextBox 11" id="11"/>
          <p:cNvSpPr txBox="true"/>
          <p:nvPr/>
        </p:nvSpPr>
        <p:spPr>
          <a:xfrm rot="0">
            <a:off x="1370339" y="2293742"/>
            <a:ext cx="5706552" cy="7442200"/>
          </a:xfrm>
          <a:prstGeom prst="rect">
            <a:avLst/>
          </a:prstGeom>
        </p:spPr>
        <p:txBody>
          <a:bodyPr anchor="t" rtlCol="false" tIns="0" lIns="0" bIns="0" rIns="0">
            <a:spAutoFit/>
          </a:bodyPr>
          <a:lstStyle/>
          <a:p>
            <a:pPr algn="l" marL="539751" indent="-269876" lvl="1">
              <a:lnSpc>
                <a:spcPts val="3500"/>
              </a:lnSpc>
              <a:buFont typeface="Arial"/>
              <a:buChar char="•"/>
            </a:pPr>
            <a:r>
              <a:rPr lang="en-US" b="true" sz="2500">
                <a:solidFill>
                  <a:srgbClr val="001E3A"/>
                </a:solidFill>
                <a:latin typeface="Garet Bold"/>
                <a:ea typeface="Garet Bold"/>
                <a:cs typeface="Garet Bold"/>
                <a:sym typeface="Garet Bold"/>
              </a:rPr>
              <a:t>Hỗ trợ và tư vấn trực tiếp:</a:t>
            </a:r>
            <a:r>
              <a:rPr lang="en-US" sz="2500">
                <a:solidFill>
                  <a:srgbClr val="001E3A"/>
                </a:solidFill>
                <a:latin typeface="Garet"/>
                <a:ea typeface="Garet"/>
                <a:cs typeface="Garet"/>
                <a:sym typeface="Garet"/>
              </a:rPr>
              <a:t> Khách hàng có thể nhận được sự trợ giúp ngay lập tức về sản phẩm hoặc đơn hàng mà không cần rời khỏi website.</a:t>
            </a:r>
          </a:p>
          <a:p>
            <a:pPr algn="l">
              <a:lnSpc>
                <a:spcPts val="3500"/>
              </a:lnSpc>
            </a:pPr>
          </a:p>
          <a:p>
            <a:pPr algn="l" marL="539751" indent="-269876" lvl="1">
              <a:lnSpc>
                <a:spcPts val="3500"/>
              </a:lnSpc>
              <a:buFont typeface="Arial"/>
              <a:buChar char="•"/>
            </a:pPr>
            <a:r>
              <a:rPr lang="en-US" b="true" sz="2500">
                <a:solidFill>
                  <a:srgbClr val="001E3A"/>
                </a:solidFill>
                <a:latin typeface="Garet Bold"/>
                <a:ea typeface="Garet Bold"/>
                <a:cs typeface="Garet Bold"/>
                <a:sym typeface="Garet Bold"/>
              </a:rPr>
              <a:t>Lưu trữ lịch sử hội thoại:</a:t>
            </a:r>
            <a:r>
              <a:rPr lang="en-US" sz="2500">
                <a:solidFill>
                  <a:srgbClr val="001E3A"/>
                </a:solidFill>
                <a:latin typeface="Garet"/>
                <a:ea typeface="Garet"/>
                <a:cs typeface="Garet"/>
                <a:sym typeface="Garet"/>
              </a:rPr>
              <a:t> Cả khách hàng và quản trị viên đều có thể xem lại nội dung cuộc trò chuyện để dễ dàng tra cứu thông tin.</a:t>
            </a:r>
          </a:p>
          <a:p>
            <a:pPr algn="l">
              <a:lnSpc>
                <a:spcPts val="3500"/>
              </a:lnSpc>
            </a:pPr>
          </a:p>
          <a:p>
            <a:pPr algn="l" marL="539751" indent="-269876" lvl="1">
              <a:lnSpc>
                <a:spcPts val="3500"/>
              </a:lnSpc>
              <a:buFont typeface="Arial"/>
              <a:buChar char="•"/>
            </a:pPr>
            <a:r>
              <a:rPr lang="en-US" b="true" sz="2500">
                <a:solidFill>
                  <a:srgbClr val="001E3A"/>
                </a:solidFill>
                <a:latin typeface="Garet Bold"/>
                <a:ea typeface="Garet Bold"/>
                <a:cs typeface="Garet Bold"/>
                <a:sym typeface="Garet Bold"/>
              </a:rPr>
              <a:t>Tăng tương tác và xây dựng lòng tin:</a:t>
            </a:r>
            <a:r>
              <a:rPr lang="en-US" sz="2500">
                <a:solidFill>
                  <a:srgbClr val="001E3A"/>
                </a:solidFill>
                <a:latin typeface="Garet"/>
                <a:ea typeface="Garet"/>
                <a:cs typeface="Garet"/>
                <a:sym typeface="Garet"/>
              </a:rPr>
              <a:t> Việc hỗ trợ nhanh chóng và kịp thời giúp nâng cao sự hài lòng và lòng trung thành của khách hàng.</a:t>
            </a:r>
          </a:p>
        </p:txBody>
      </p:sp>
      <p:grpSp>
        <p:nvGrpSpPr>
          <p:cNvPr name="Group 12" id="12"/>
          <p:cNvGrpSpPr/>
          <p:nvPr/>
        </p:nvGrpSpPr>
        <p:grpSpPr>
          <a:xfrm rot="0">
            <a:off x="661439" y="2207278"/>
            <a:ext cx="734523" cy="626074"/>
            <a:chOff x="0" y="0"/>
            <a:chExt cx="113797" cy="96995"/>
          </a:xfrm>
        </p:grpSpPr>
        <p:sp>
          <p:nvSpPr>
            <p:cNvPr name="Freeform 13" id="13"/>
            <p:cNvSpPr/>
            <p:nvPr/>
          </p:nvSpPr>
          <p:spPr>
            <a:xfrm flipH="false" flipV="false" rot="0">
              <a:off x="0" y="0"/>
              <a:ext cx="113797" cy="96995"/>
            </a:xfrm>
            <a:custGeom>
              <a:avLst/>
              <a:gdLst/>
              <a:ahLst/>
              <a:cxnLst/>
              <a:rect r="r" b="b" t="t" l="l"/>
              <a:pathLst>
                <a:path h="96995" w="113797">
                  <a:moveTo>
                    <a:pt x="0" y="0"/>
                  </a:moveTo>
                  <a:lnTo>
                    <a:pt x="113797" y="0"/>
                  </a:lnTo>
                  <a:lnTo>
                    <a:pt x="113797" y="96995"/>
                  </a:lnTo>
                  <a:lnTo>
                    <a:pt x="0" y="96995"/>
                  </a:lnTo>
                  <a:close/>
                </a:path>
              </a:pathLst>
            </a:custGeom>
            <a:blipFill>
              <a:blip r:embed="rId5"/>
              <a:stretch>
                <a:fillRect l="0" t="-8660" r="0" b="-8660"/>
              </a:stretch>
            </a:blipFill>
          </p:spPr>
        </p:sp>
      </p:grpSp>
      <p:grpSp>
        <p:nvGrpSpPr>
          <p:cNvPr name="Group 14" id="14"/>
          <p:cNvGrpSpPr/>
          <p:nvPr/>
        </p:nvGrpSpPr>
        <p:grpSpPr>
          <a:xfrm rot="0">
            <a:off x="661439" y="4830463"/>
            <a:ext cx="734523" cy="626074"/>
            <a:chOff x="0" y="0"/>
            <a:chExt cx="113797" cy="96995"/>
          </a:xfrm>
        </p:grpSpPr>
        <p:sp>
          <p:nvSpPr>
            <p:cNvPr name="Freeform 15" id="15"/>
            <p:cNvSpPr/>
            <p:nvPr/>
          </p:nvSpPr>
          <p:spPr>
            <a:xfrm flipH="false" flipV="false" rot="0">
              <a:off x="0" y="0"/>
              <a:ext cx="113797" cy="96995"/>
            </a:xfrm>
            <a:custGeom>
              <a:avLst/>
              <a:gdLst/>
              <a:ahLst/>
              <a:cxnLst/>
              <a:rect r="r" b="b" t="t" l="l"/>
              <a:pathLst>
                <a:path h="96995" w="113797">
                  <a:moveTo>
                    <a:pt x="0" y="0"/>
                  </a:moveTo>
                  <a:lnTo>
                    <a:pt x="113797" y="0"/>
                  </a:lnTo>
                  <a:lnTo>
                    <a:pt x="113797" y="96995"/>
                  </a:lnTo>
                  <a:lnTo>
                    <a:pt x="0" y="96995"/>
                  </a:lnTo>
                  <a:close/>
                </a:path>
              </a:pathLst>
            </a:custGeom>
            <a:blipFill>
              <a:blip r:embed="rId6"/>
              <a:stretch>
                <a:fillRect l="0" t="-8660" r="0" b="-8660"/>
              </a:stretch>
            </a:blipFill>
          </p:spPr>
        </p:sp>
      </p:grpSp>
      <p:grpSp>
        <p:nvGrpSpPr>
          <p:cNvPr name="Group 16" id="16"/>
          <p:cNvGrpSpPr/>
          <p:nvPr/>
        </p:nvGrpSpPr>
        <p:grpSpPr>
          <a:xfrm rot="0">
            <a:off x="661439" y="7583468"/>
            <a:ext cx="734523" cy="626074"/>
            <a:chOff x="0" y="0"/>
            <a:chExt cx="113797" cy="96995"/>
          </a:xfrm>
        </p:grpSpPr>
        <p:sp>
          <p:nvSpPr>
            <p:cNvPr name="Freeform 17" id="17"/>
            <p:cNvSpPr/>
            <p:nvPr/>
          </p:nvSpPr>
          <p:spPr>
            <a:xfrm flipH="false" flipV="false" rot="0">
              <a:off x="0" y="0"/>
              <a:ext cx="113797" cy="96995"/>
            </a:xfrm>
            <a:custGeom>
              <a:avLst/>
              <a:gdLst/>
              <a:ahLst/>
              <a:cxnLst/>
              <a:rect r="r" b="b" t="t" l="l"/>
              <a:pathLst>
                <a:path h="96995" w="113797">
                  <a:moveTo>
                    <a:pt x="0" y="0"/>
                  </a:moveTo>
                  <a:lnTo>
                    <a:pt x="113797" y="0"/>
                  </a:lnTo>
                  <a:lnTo>
                    <a:pt x="113797" y="96995"/>
                  </a:lnTo>
                  <a:lnTo>
                    <a:pt x="0" y="96995"/>
                  </a:lnTo>
                  <a:close/>
                </a:path>
              </a:pathLst>
            </a:custGeom>
            <a:blipFill>
              <a:blip r:embed="rId7"/>
              <a:stretch>
                <a:fillRect l="0" t="-12706" r="0" b="-12706"/>
              </a:stretch>
            </a:blipFill>
          </p:spPr>
        </p:sp>
      </p:grpSp>
      <p:sp>
        <p:nvSpPr>
          <p:cNvPr name="TextBox 18" id="18"/>
          <p:cNvSpPr txBox="true"/>
          <p:nvPr/>
        </p:nvSpPr>
        <p:spPr>
          <a:xfrm rot="0">
            <a:off x="1028700" y="275870"/>
            <a:ext cx="15778908" cy="1754505"/>
          </a:xfrm>
          <a:prstGeom prst="rect">
            <a:avLst/>
          </a:prstGeom>
        </p:spPr>
        <p:txBody>
          <a:bodyPr anchor="t" rtlCol="false" tIns="0" lIns="0" bIns="0" rIns="0">
            <a:spAutoFit/>
          </a:bodyPr>
          <a:lstStyle/>
          <a:p>
            <a:pPr algn="l">
              <a:lnSpc>
                <a:spcPts val="6960"/>
              </a:lnSpc>
            </a:pPr>
            <a:r>
              <a:rPr lang="en-US" sz="6000" b="true">
                <a:solidFill>
                  <a:srgbClr val="001E3A"/>
                </a:solidFill>
                <a:latin typeface="Garet Ultra-Bold"/>
                <a:ea typeface="Garet Ultra-Bold"/>
                <a:cs typeface="Garet Ultra-Bold"/>
                <a:sym typeface="Garet Ultra-Bold"/>
              </a:rPr>
              <a:t>Tính Năng Nổi Bật: Kết Nối Tức Thì Với</a:t>
            </a:r>
          </a:p>
          <a:p>
            <a:pPr algn="l">
              <a:lnSpc>
                <a:spcPts val="6960"/>
              </a:lnSpc>
            </a:pPr>
            <a:r>
              <a:rPr lang="en-US" sz="6000" b="true">
                <a:solidFill>
                  <a:srgbClr val="001E3A"/>
                </a:solidFill>
                <a:latin typeface="Garet Ultra-Bold"/>
                <a:ea typeface="Garet Ultra-Bold"/>
                <a:cs typeface="Garet Ultra-Bold"/>
                <a:sym typeface="Garet Ultra-Bold"/>
              </a:rPr>
              <a:t>Chat Trực Tuyến</a:t>
            </a:r>
          </a:p>
        </p:txBody>
      </p:sp>
      <p:sp>
        <p:nvSpPr>
          <p:cNvPr name="TextBox 19" id="19"/>
          <p:cNvSpPr txBox="true"/>
          <p:nvPr/>
        </p:nvSpPr>
        <p:spPr>
          <a:xfrm rot="0">
            <a:off x="13691401" y="9363075"/>
            <a:ext cx="559219" cy="338186"/>
          </a:xfrm>
          <a:prstGeom prst="rect">
            <a:avLst/>
          </a:prstGeom>
        </p:spPr>
        <p:txBody>
          <a:bodyPr anchor="t" rtlCol="false" tIns="0" lIns="0" bIns="0" rIns="0">
            <a:spAutoFit/>
          </a:bodyPr>
          <a:lstStyle/>
          <a:p>
            <a:pPr algn="ctr">
              <a:lnSpc>
                <a:spcPts val="2440"/>
              </a:lnSpc>
            </a:pPr>
            <a:r>
              <a:rPr lang="en-US" sz="2940" b="true">
                <a:solidFill>
                  <a:srgbClr val="001E3A"/>
                </a:solidFill>
                <a:latin typeface="Garet Bold"/>
                <a:ea typeface="Garet Bold"/>
                <a:cs typeface="Garet Bold"/>
                <a:sym typeface="Garet Bold"/>
              </a:rPr>
              <a:t>10</a:t>
            </a:r>
          </a:p>
        </p:txBody>
      </p:sp>
      <p:sp>
        <p:nvSpPr>
          <p:cNvPr name="TextBox 20" id="20"/>
          <p:cNvSpPr txBox="true"/>
          <p:nvPr/>
        </p:nvSpPr>
        <p:spPr>
          <a:xfrm rot="0">
            <a:off x="14457899" y="9278166"/>
            <a:ext cx="3008680" cy="356632"/>
          </a:xfrm>
          <a:prstGeom prst="rect">
            <a:avLst/>
          </a:prstGeom>
        </p:spPr>
        <p:txBody>
          <a:bodyPr anchor="t" rtlCol="false" tIns="0" lIns="0" bIns="0" rIns="0">
            <a:spAutoFit/>
          </a:bodyPr>
          <a:lstStyle/>
          <a:p>
            <a:pPr algn="l">
              <a:lnSpc>
                <a:spcPts val="2918"/>
              </a:lnSpc>
            </a:pPr>
            <a:r>
              <a:rPr lang="en-US" sz="2084" b="true">
                <a:solidFill>
                  <a:srgbClr val="001E3A"/>
                </a:solidFill>
                <a:latin typeface="Garet Bold"/>
                <a:ea typeface="Garet Bold"/>
                <a:cs typeface="Garet Bold"/>
                <a:sym typeface="Garet Bold"/>
              </a:rPr>
              <a:t>VPP ONLINE</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5F1E9"/>
        </a:solidFill>
      </p:bgPr>
    </p:bg>
    <p:spTree>
      <p:nvGrpSpPr>
        <p:cNvPr id="1" name=""/>
        <p:cNvGrpSpPr/>
        <p:nvPr/>
      </p:nvGrpSpPr>
      <p:grpSpPr>
        <a:xfrm>
          <a:off x="0" y="0"/>
          <a:ext cx="0" cy="0"/>
          <a:chOff x="0" y="0"/>
          <a:chExt cx="0" cy="0"/>
        </a:xfrm>
      </p:grpSpPr>
      <p:grpSp>
        <p:nvGrpSpPr>
          <p:cNvPr name="Group 2" id="2"/>
          <p:cNvGrpSpPr/>
          <p:nvPr/>
        </p:nvGrpSpPr>
        <p:grpSpPr>
          <a:xfrm rot="0">
            <a:off x="16116124" y="-4115022"/>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4161140" y="789650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70339" y="10056459"/>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grpSp>
        <p:nvGrpSpPr>
          <p:cNvPr name="Group 9" id="9"/>
          <p:cNvGrpSpPr/>
          <p:nvPr/>
        </p:nvGrpSpPr>
        <p:grpSpPr>
          <a:xfrm rot="0">
            <a:off x="3768467" y="2045862"/>
            <a:ext cx="1249678" cy="1125131"/>
            <a:chOff x="0" y="0"/>
            <a:chExt cx="193608" cy="174312"/>
          </a:xfrm>
        </p:grpSpPr>
        <p:sp>
          <p:nvSpPr>
            <p:cNvPr name="Freeform 10" id="10"/>
            <p:cNvSpPr/>
            <p:nvPr/>
          </p:nvSpPr>
          <p:spPr>
            <a:xfrm flipH="false" flipV="false" rot="0">
              <a:off x="0" y="0"/>
              <a:ext cx="193608" cy="174312"/>
            </a:xfrm>
            <a:custGeom>
              <a:avLst/>
              <a:gdLst/>
              <a:ahLst/>
              <a:cxnLst/>
              <a:rect r="r" b="b" t="t" l="l"/>
              <a:pathLst>
                <a:path h="174312" w="193608">
                  <a:moveTo>
                    <a:pt x="0" y="0"/>
                  </a:moveTo>
                  <a:lnTo>
                    <a:pt x="193608" y="0"/>
                  </a:lnTo>
                  <a:lnTo>
                    <a:pt x="193608" y="174312"/>
                  </a:lnTo>
                  <a:lnTo>
                    <a:pt x="0" y="174312"/>
                  </a:lnTo>
                  <a:close/>
                </a:path>
              </a:pathLst>
            </a:custGeom>
            <a:blipFill>
              <a:blip r:embed="rId4"/>
              <a:stretch>
                <a:fillRect l="-5167" t="0" r="-5167" b="0"/>
              </a:stretch>
            </a:blipFill>
          </p:spPr>
        </p:sp>
      </p:grpSp>
      <p:grpSp>
        <p:nvGrpSpPr>
          <p:cNvPr name="Group 11" id="11"/>
          <p:cNvGrpSpPr/>
          <p:nvPr/>
        </p:nvGrpSpPr>
        <p:grpSpPr>
          <a:xfrm rot="0">
            <a:off x="10863185" y="2045862"/>
            <a:ext cx="1861424" cy="1180632"/>
            <a:chOff x="0" y="0"/>
            <a:chExt cx="288383" cy="182911"/>
          </a:xfrm>
        </p:grpSpPr>
        <p:sp>
          <p:nvSpPr>
            <p:cNvPr name="Freeform 12" id="12"/>
            <p:cNvSpPr/>
            <p:nvPr/>
          </p:nvSpPr>
          <p:spPr>
            <a:xfrm flipH="false" flipV="false" rot="0">
              <a:off x="0" y="0"/>
              <a:ext cx="288383" cy="182911"/>
            </a:xfrm>
            <a:custGeom>
              <a:avLst/>
              <a:gdLst/>
              <a:ahLst/>
              <a:cxnLst/>
              <a:rect r="r" b="b" t="t" l="l"/>
              <a:pathLst>
                <a:path h="182911" w="288383">
                  <a:moveTo>
                    <a:pt x="0" y="0"/>
                  </a:moveTo>
                  <a:lnTo>
                    <a:pt x="288383" y="0"/>
                  </a:lnTo>
                  <a:lnTo>
                    <a:pt x="288383" y="182911"/>
                  </a:lnTo>
                  <a:lnTo>
                    <a:pt x="0" y="182911"/>
                  </a:lnTo>
                  <a:close/>
                </a:path>
              </a:pathLst>
            </a:custGeom>
            <a:blipFill>
              <a:blip r:embed="rId5"/>
              <a:stretch>
                <a:fillRect l="0" t="-15898" r="0" b="-15898"/>
              </a:stretch>
            </a:blipFill>
          </p:spPr>
        </p:sp>
      </p:grpSp>
      <p:sp>
        <p:nvSpPr>
          <p:cNvPr name="TextBox 13" id="13"/>
          <p:cNvSpPr txBox="true"/>
          <p:nvPr/>
        </p:nvSpPr>
        <p:spPr>
          <a:xfrm rot="0">
            <a:off x="1701835" y="3553510"/>
            <a:ext cx="5706552" cy="5689600"/>
          </a:xfrm>
          <a:prstGeom prst="rect">
            <a:avLst/>
          </a:prstGeom>
        </p:spPr>
        <p:txBody>
          <a:bodyPr anchor="t" rtlCol="false" tIns="0" lIns="0" bIns="0" rIns="0">
            <a:spAutoFit/>
          </a:bodyPr>
          <a:lstStyle/>
          <a:p>
            <a:pPr algn="l" marL="539751" indent="-269876" lvl="1">
              <a:lnSpc>
                <a:spcPts val="3500"/>
              </a:lnSpc>
              <a:buFont typeface="Arial"/>
              <a:buChar char="•"/>
            </a:pPr>
            <a:r>
              <a:rPr lang="en-US" sz="2500">
                <a:solidFill>
                  <a:srgbClr val="001E3A"/>
                </a:solidFill>
                <a:latin typeface="Garet"/>
                <a:ea typeface="Garet"/>
                <a:cs typeface="Garet"/>
                <a:sym typeface="Garet"/>
              </a:rPr>
              <a:t>Hệ thống đầy đủ chức năng: Cung cấp trọn vẹn các nghiệp vụ của một website thương mại điện tử.</a:t>
            </a:r>
          </a:p>
          <a:p>
            <a:pPr algn="l" marL="539751" indent="-269876" lvl="1">
              <a:lnSpc>
                <a:spcPts val="3500"/>
              </a:lnSpc>
              <a:buFont typeface="Arial"/>
              <a:buChar char="•"/>
            </a:pPr>
            <a:r>
              <a:rPr lang="en-US" sz="2500">
                <a:solidFill>
                  <a:srgbClr val="001E3A"/>
                </a:solidFill>
                <a:latin typeface="Garet"/>
                <a:ea typeface="Garet"/>
                <a:cs typeface="Garet"/>
                <a:sym typeface="Garet"/>
              </a:rPr>
              <a:t>Kiến trúc MVC rõ ràng: Dễ bảo trì và mở rộng nhờ nền tảng Laravel.</a:t>
            </a:r>
          </a:p>
          <a:p>
            <a:pPr algn="l" marL="539751" indent="-269876" lvl="1">
              <a:lnSpc>
                <a:spcPts val="3500"/>
              </a:lnSpc>
              <a:buFont typeface="Arial"/>
              <a:buChar char="•"/>
            </a:pPr>
            <a:r>
              <a:rPr lang="en-US" sz="2500">
                <a:solidFill>
                  <a:srgbClr val="001E3A"/>
                </a:solidFill>
                <a:latin typeface="Garet"/>
                <a:ea typeface="Garet"/>
                <a:cs typeface="Garet"/>
                <a:sym typeface="Garet"/>
              </a:rPr>
              <a:t>Giao diện hiện đại &amp; responsive: Giao diện đẹp, dễ dùng, Trải nghiệm người dùng tốt</a:t>
            </a:r>
          </a:p>
          <a:p>
            <a:pPr algn="l" marL="539751" indent="-269876" lvl="1">
              <a:lnSpc>
                <a:spcPts val="3500"/>
              </a:lnSpc>
              <a:buFont typeface="Arial"/>
              <a:buChar char="•"/>
            </a:pPr>
            <a:r>
              <a:rPr lang="en-US" sz="2500">
                <a:solidFill>
                  <a:srgbClr val="001E3A"/>
                </a:solidFill>
                <a:latin typeface="Garet"/>
                <a:ea typeface="Garet"/>
                <a:cs typeface="Garet"/>
                <a:sym typeface="Garet"/>
              </a:rPr>
              <a:t>· Bảo mật tốt: Tận dụng các cơ chế bảo mật tích hợp của framework.</a:t>
            </a:r>
          </a:p>
        </p:txBody>
      </p:sp>
      <p:sp>
        <p:nvSpPr>
          <p:cNvPr name="TextBox 14" id="14"/>
          <p:cNvSpPr txBox="true"/>
          <p:nvPr/>
        </p:nvSpPr>
        <p:spPr>
          <a:xfrm rot="0">
            <a:off x="1028700" y="275870"/>
            <a:ext cx="15778908" cy="1754505"/>
          </a:xfrm>
          <a:prstGeom prst="rect">
            <a:avLst/>
          </a:prstGeom>
        </p:spPr>
        <p:txBody>
          <a:bodyPr anchor="t" rtlCol="false" tIns="0" lIns="0" bIns="0" rIns="0">
            <a:spAutoFit/>
          </a:bodyPr>
          <a:lstStyle/>
          <a:p>
            <a:pPr algn="l">
              <a:lnSpc>
                <a:spcPts val="6960"/>
              </a:lnSpc>
            </a:pPr>
            <a:r>
              <a:rPr lang="en-US" sz="6000" b="true">
                <a:solidFill>
                  <a:srgbClr val="001E3A"/>
                </a:solidFill>
                <a:latin typeface="Garet Ultra-Bold"/>
                <a:ea typeface="Garet Ultra-Bold"/>
                <a:cs typeface="Garet Ultra-Bold"/>
                <a:sym typeface="Garet Ultra-Bold"/>
              </a:rPr>
              <a:t>Tính Năng Nổi Bật: Kết Nối Tức Thì Với</a:t>
            </a:r>
          </a:p>
          <a:p>
            <a:pPr algn="l">
              <a:lnSpc>
                <a:spcPts val="6960"/>
              </a:lnSpc>
            </a:pPr>
            <a:r>
              <a:rPr lang="en-US" sz="6000" b="true">
                <a:solidFill>
                  <a:srgbClr val="001E3A"/>
                </a:solidFill>
                <a:latin typeface="Garet Ultra-Bold"/>
                <a:ea typeface="Garet Ultra-Bold"/>
                <a:cs typeface="Garet Ultra-Bold"/>
                <a:sym typeface="Garet Ultra-Bold"/>
              </a:rPr>
              <a:t>Chat Trực Tuyến</a:t>
            </a:r>
          </a:p>
        </p:txBody>
      </p:sp>
      <p:sp>
        <p:nvSpPr>
          <p:cNvPr name="TextBox 15" id="15"/>
          <p:cNvSpPr txBox="true"/>
          <p:nvPr/>
        </p:nvSpPr>
        <p:spPr>
          <a:xfrm rot="0">
            <a:off x="13691401" y="9363075"/>
            <a:ext cx="559219" cy="338186"/>
          </a:xfrm>
          <a:prstGeom prst="rect">
            <a:avLst/>
          </a:prstGeom>
        </p:spPr>
        <p:txBody>
          <a:bodyPr anchor="t" rtlCol="false" tIns="0" lIns="0" bIns="0" rIns="0">
            <a:spAutoFit/>
          </a:bodyPr>
          <a:lstStyle/>
          <a:p>
            <a:pPr algn="ctr">
              <a:lnSpc>
                <a:spcPts val="2440"/>
              </a:lnSpc>
            </a:pPr>
            <a:r>
              <a:rPr lang="en-US" sz="2940" b="true">
                <a:solidFill>
                  <a:srgbClr val="001E3A"/>
                </a:solidFill>
                <a:latin typeface="Garet Bold"/>
                <a:ea typeface="Garet Bold"/>
                <a:cs typeface="Garet Bold"/>
                <a:sym typeface="Garet Bold"/>
              </a:rPr>
              <a:t>11</a:t>
            </a:r>
          </a:p>
        </p:txBody>
      </p:sp>
      <p:sp>
        <p:nvSpPr>
          <p:cNvPr name="TextBox 16" id="16"/>
          <p:cNvSpPr txBox="true"/>
          <p:nvPr/>
        </p:nvSpPr>
        <p:spPr>
          <a:xfrm rot="0">
            <a:off x="1859370" y="2560803"/>
            <a:ext cx="1762397" cy="495300"/>
          </a:xfrm>
          <a:prstGeom prst="rect">
            <a:avLst/>
          </a:prstGeom>
        </p:spPr>
        <p:txBody>
          <a:bodyPr anchor="t" rtlCol="false" tIns="0" lIns="0" bIns="0" rIns="0">
            <a:spAutoFit/>
          </a:bodyPr>
          <a:lstStyle/>
          <a:p>
            <a:pPr algn="l">
              <a:lnSpc>
                <a:spcPts val="4199"/>
              </a:lnSpc>
            </a:pPr>
            <a:r>
              <a:rPr lang="en-US" sz="2999" b="true">
                <a:solidFill>
                  <a:srgbClr val="001E3A"/>
                </a:solidFill>
                <a:latin typeface="Garet Bold"/>
                <a:ea typeface="Garet Bold"/>
                <a:cs typeface="Garet Bold"/>
                <a:sym typeface="Garet Bold"/>
              </a:rPr>
              <a:t>Ưu điểm</a:t>
            </a:r>
          </a:p>
        </p:txBody>
      </p:sp>
      <p:sp>
        <p:nvSpPr>
          <p:cNvPr name="TextBox 17" id="17"/>
          <p:cNvSpPr txBox="true"/>
          <p:nvPr/>
        </p:nvSpPr>
        <p:spPr>
          <a:xfrm rot="0">
            <a:off x="10676263" y="3568700"/>
            <a:ext cx="5706552" cy="4813300"/>
          </a:xfrm>
          <a:prstGeom prst="rect">
            <a:avLst/>
          </a:prstGeom>
        </p:spPr>
        <p:txBody>
          <a:bodyPr anchor="t" rtlCol="false" tIns="0" lIns="0" bIns="0" rIns="0">
            <a:spAutoFit/>
          </a:bodyPr>
          <a:lstStyle/>
          <a:p>
            <a:pPr algn="l" marL="539751" indent="-269876" lvl="1">
              <a:lnSpc>
                <a:spcPts val="3500"/>
              </a:lnSpc>
              <a:buFont typeface="Arial"/>
              <a:buChar char="•"/>
            </a:pPr>
            <a:r>
              <a:rPr lang="en-US" sz="2500">
                <a:solidFill>
                  <a:srgbClr val="001E3A"/>
                </a:solidFill>
                <a:latin typeface="Garet"/>
                <a:ea typeface="Garet"/>
                <a:cs typeface="Garet"/>
                <a:sym typeface="Garet"/>
              </a:rPr>
              <a:t>Thiếu thanh toán online: Hiện chỉ hỗ trợ COD, chưa có cổng thanh toán điện tử (Momo, ZaloPay).</a:t>
            </a:r>
          </a:p>
          <a:p>
            <a:pPr algn="l" marL="539751" indent="-269876" lvl="1">
              <a:lnSpc>
                <a:spcPts val="3500"/>
              </a:lnSpc>
              <a:buFont typeface="Arial"/>
              <a:buChar char="•"/>
            </a:pPr>
            <a:r>
              <a:rPr lang="en-US" sz="2500">
                <a:solidFill>
                  <a:srgbClr val="001E3A"/>
                </a:solidFill>
                <a:latin typeface="Garet"/>
                <a:ea typeface="Garet"/>
                <a:cs typeface="Garet"/>
                <a:sym typeface="Garet"/>
              </a:rPr>
              <a:t>Hệ thống thông báo còn đơn giản: Chưa tự động gửi email/SMS cập nhật trạng thái đơn hàng.</a:t>
            </a:r>
          </a:p>
          <a:p>
            <a:pPr algn="l" marL="539751" indent="-269876" lvl="1">
              <a:lnSpc>
                <a:spcPts val="3500"/>
              </a:lnSpc>
              <a:buFont typeface="Arial"/>
              <a:buChar char="•"/>
            </a:pPr>
            <a:r>
              <a:rPr lang="en-US" sz="2500">
                <a:solidFill>
                  <a:srgbClr val="001E3A"/>
                </a:solidFill>
                <a:latin typeface="Garet"/>
                <a:ea typeface="Garet"/>
                <a:cs typeface="Garet"/>
                <a:sym typeface="Garet"/>
              </a:rPr>
              <a:t>Chưa có tính năng cá nhân hóa: Thiếu hệ thống gợi ý sản phẩm dựa trên hành vi người dùng.</a:t>
            </a:r>
          </a:p>
        </p:txBody>
      </p:sp>
      <p:sp>
        <p:nvSpPr>
          <p:cNvPr name="TextBox 18" id="18"/>
          <p:cNvSpPr txBox="true"/>
          <p:nvPr/>
        </p:nvSpPr>
        <p:spPr>
          <a:xfrm rot="0">
            <a:off x="13089812" y="2102778"/>
            <a:ext cx="3293002" cy="1019175"/>
          </a:xfrm>
          <a:prstGeom prst="rect">
            <a:avLst/>
          </a:prstGeom>
        </p:spPr>
        <p:txBody>
          <a:bodyPr anchor="t" rtlCol="false" tIns="0" lIns="0" bIns="0" rIns="0">
            <a:spAutoFit/>
          </a:bodyPr>
          <a:lstStyle/>
          <a:p>
            <a:pPr algn="l">
              <a:lnSpc>
                <a:spcPts val="4199"/>
              </a:lnSpc>
            </a:pPr>
            <a:r>
              <a:rPr lang="en-US" sz="2999" b="true">
                <a:solidFill>
                  <a:srgbClr val="001E3A"/>
                </a:solidFill>
                <a:latin typeface="Garet Bold"/>
                <a:ea typeface="Garet Bold"/>
                <a:cs typeface="Garet Bold"/>
                <a:sym typeface="Garet Bold"/>
              </a:rPr>
              <a:t>Nhược điểm &amp;</a:t>
            </a:r>
          </a:p>
          <a:p>
            <a:pPr algn="l">
              <a:lnSpc>
                <a:spcPts val="4199"/>
              </a:lnSpc>
            </a:pPr>
            <a:r>
              <a:rPr lang="en-US" sz="2999" b="true">
                <a:solidFill>
                  <a:srgbClr val="001E3A"/>
                </a:solidFill>
                <a:latin typeface="Garet Bold"/>
                <a:ea typeface="Garet Bold"/>
                <a:cs typeface="Garet Bold"/>
                <a:sym typeface="Garet Bold"/>
              </a:rPr>
              <a:t>Hướng Cải Thiện</a:t>
            </a:r>
          </a:p>
        </p:txBody>
      </p:sp>
      <p:sp>
        <p:nvSpPr>
          <p:cNvPr name="TextBox 19" id="19"/>
          <p:cNvSpPr txBox="true"/>
          <p:nvPr/>
        </p:nvSpPr>
        <p:spPr>
          <a:xfrm rot="0">
            <a:off x="14457899" y="9278166"/>
            <a:ext cx="3008680" cy="356632"/>
          </a:xfrm>
          <a:prstGeom prst="rect">
            <a:avLst/>
          </a:prstGeom>
        </p:spPr>
        <p:txBody>
          <a:bodyPr anchor="t" rtlCol="false" tIns="0" lIns="0" bIns="0" rIns="0">
            <a:spAutoFit/>
          </a:bodyPr>
          <a:lstStyle/>
          <a:p>
            <a:pPr algn="l">
              <a:lnSpc>
                <a:spcPts val="2918"/>
              </a:lnSpc>
            </a:pPr>
            <a:r>
              <a:rPr lang="en-US" sz="2084" b="true">
                <a:solidFill>
                  <a:srgbClr val="001E3A"/>
                </a:solidFill>
                <a:latin typeface="Garet Bold"/>
                <a:ea typeface="Garet Bold"/>
                <a:cs typeface="Garet Bold"/>
                <a:sym typeface="Garet Bold"/>
              </a:rPr>
              <a:t>VPP ONLINE</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5286081" y="4026814"/>
            <a:ext cx="7715839" cy="1513781"/>
          </a:xfrm>
          <a:prstGeom prst="rect">
            <a:avLst/>
          </a:prstGeom>
        </p:spPr>
        <p:txBody>
          <a:bodyPr anchor="t" rtlCol="false" tIns="0" lIns="0" bIns="0" rIns="0">
            <a:spAutoFit/>
          </a:bodyPr>
          <a:lstStyle/>
          <a:p>
            <a:pPr algn="ctr">
              <a:lnSpc>
                <a:spcPts val="10755"/>
              </a:lnSpc>
            </a:pPr>
            <a:r>
              <a:rPr lang="en-US" sz="12958" b="true">
                <a:solidFill>
                  <a:srgbClr val="001E3A"/>
                </a:solidFill>
                <a:latin typeface="Garet Bold"/>
                <a:ea typeface="Garet Bold"/>
                <a:cs typeface="Garet Bold"/>
                <a:sym typeface="Garet Bold"/>
              </a:rPr>
              <a:t>DEMO</a:t>
            </a:r>
          </a:p>
        </p:txBody>
      </p:sp>
      <p:sp>
        <p:nvSpPr>
          <p:cNvPr name="TextBox 11" id="11"/>
          <p:cNvSpPr txBox="true"/>
          <p:nvPr/>
        </p:nvSpPr>
        <p:spPr>
          <a:xfrm rot="0">
            <a:off x="13691401" y="9363075"/>
            <a:ext cx="559219" cy="338186"/>
          </a:xfrm>
          <a:prstGeom prst="rect">
            <a:avLst/>
          </a:prstGeom>
        </p:spPr>
        <p:txBody>
          <a:bodyPr anchor="t" rtlCol="false" tIns="0" lIns="0" bIns="0" rIns="0">
            <a:spAutoFit/>
          </a:bodyPr>
          <a:lstStyle/>
          <a:p>
            <a:pPr algn="ctr">
              <a:lnSpc>
                <a:spcPts val="2440"/>
              </a:lnSpc>
            </a:pPr>
            <a:r>
              <a:rPr lang="en-US" sz="2940" b="true">
                <a:solidFill>
                  <a:srgbClr val="001E3A"/>
                </a:solidFill>
                <a:latin typeface="Garet Bold"/>
                <a:ea typeface="Garet Bold"/>
                <a:cs typeface="Garet Bold"/>
                <a:sym typeface="Garet Bold"/>
              </a:rPr>
              <a:t>12</a:t>
            </a:r>
          </a:p>
        </p:txBody>
      </p:sp>
      <p:sp>
        <p:nvSpPr>
          <p:cNvPr name="TextBox 12" id="12"/>
          <p:cNvSpPr txBox="true"/>
          <p:nvPr/>
        </p:nvSpPr>
        <p:spPr>
          <a:xfrm rot="0">
            <a:off x="14457899" y="9278166"/>
            <a:ext cx="3008680" cy="356632"/>
          </a:xfrm>
          <a:prstGeom prst="rect">
            <a:avLst/>
          </a:prstGeom>
        </p:spPr>
        <p:txBody>
          <a:bodyPr anchor="t" rtlCol="false" tIns="0" lIns="0" bIns="0" rIns="0">
            <a:spAutoFit/>
          </a:bodyPr>
          <a:lstStyle/>
          <a:p>
            <a:pPr algn="l">
              <a:lnSpc>
                <a:spcPts val="2918"/>
              </a:lnSpc>
            </a:pPr>
            <a:r>
              <a:rPr lang="en-US" sz="2084" b="true">
                <a:solidFill>
                  <a:srgbClr val="001E3A"/>
                </a:solidFill>
                <a:latin typeface="Garet Bold"/>
                <a:ea typeface="Garet Bold"/>
                <a:cs typeface="Garet Bold"/>
                <a:sym typeface="Garet Bold"/>
              </a:rPr>
              <a:t>VPP ONLINE</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grpSp>
        <p:nvGrpSpPr>
          <p:cNvPr name="Group 2" id="2"/>
          <p:cNvGrpSpPr/>
          <p:nvPr/>
        </p:nvGrpSpPr>
        <p:grpSpPr>
          <a:xfrm rot="0">
            <a:off x="14931087" y="-3010255"/>
            <a:ext cx="6020510" cy="6020510"/>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679C"/>
            </a:solidFill>
          </p:spPr>
        </p:sp>
        <p:sp>
          <p:nvSpPr>
            <p:cNvPr name="TextBox 4" id="4"/>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grpSp>
        <p:nvGrpSpPr>
          <p:cNvPr name="Group 5" id="5"/>
          <p:cNvGrpSpPr/>
          <p:nvPr/>
        </p:nvGrpSpPr>
        <p:grpSpPr>
          <a:xfrm rot="0">
            <a:off x="-3625653" y="7276745"/>
            <a:ext cx="6020510" cy="6020510"/>
            <a:chOff x="0" y="0"/>
            <a:chExt cx="812800" cy="812800"/>
          </a:xfrm>
        </p:grpSpPr>
        <p:sp>
          <p:nvSpPr>
            <p:cNvPr name="Freeform 6" id="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001E3A"/>
            </a:solidFill>
          </p:spPr>
        </p:sp>
        <p:sp>
          <p:nvSpPr>
            <p:cNvPr name="TextBox 7" id="7"/>
            <p:cNvSpPr txBox="true"/>
            <p:nvPr/>
          </p:nvSpPr>
          <p:spPr>
            <a:xfrm>
              <a:off x="76200" y="38100"/>
              <a:ext cx="660400" cy="698500"/>
            </a:xfrm>
            <a:prstGeom prst="rect">
              <a:avLst/>
            </a:prstGeom>
          </p:spPr>
          <p:txBody>
            <a:bodyPr anchor="ctr" rtlCol="false" tIns="50800" lIns="50800" bIns="50800" rIns="50800"/>
            <a:lstStyle/>
            <a:p>
              <a:pPr algn="ctr">
                <a:lnSpc>
                  <a:spcPts val="2659"/>
                </a:lnSpc>
              </a:pPr>
            </a:p>
          </p:txBody>
        </p:sp>
      </p:grpSp>
      <p:sp>
        <p:nvSpPr>
          <p:cNvPr name="Freeform 8" id="8"/>
          <p:cNvSpPr/>
          <p:nvPr/>
        </p:nvSpPr>
        <p:spPr>
          <a:xfrm flipH="false" flipV="false" rot="0">
            <a:off x="1322043" y="9702290"/>
            <a:ext cx="3800634" cy="2079983"/>
          </a:xfrm>
          <a:custGeom>
            <a:avLst/>
            <a:gdLst/>
            <a:ahLst/>
            <a:cxnLst/>
            <a:rect r="r" b="b" t="t" l="l"/>
            <a:pathLst>
              <a:path h="2079983" w="3800634">
                <a:moveTo>
                  <a:pt x="0" y="0"/>
                </a:moveTo>
                <a:lnTo>
                  <a:pt x="3800633" y="0"/>
                </a:lnTo>
                <a:lnTo>
                  <a:pt x="3800633" y="2079983"/>
                </a:lnTo>
                <a:lnTo>
                  <a:pt x="0" y="207998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9" id="9"/>
          <p:cNvSpPr/>
          <p:nvPr/>
        </p:nvSpPr>
        <p:spPr>
          <a:xfrm flipH="false" flipV="false" rot="0">
            <a:off x="12161605" y="-1467860"/>
            <a:ext cx="3800634" cy="2079983"/>
          </a:xfrm>
          <a:custGeom>
            <a:avLst/>
            <a:gdLst/>
            <a:ahLst/>
            <a:cxnLst/>
            <a:rect r="r" b="b" t="t" l="l"/>
            <a:pathLst>
              <a:path h="2079983" w="3800634">
                <a:moveTo>
                  <a:pt x="0" y="0"/>
                </a:moveTo>
                <a:lnTo>
                  <a:pt x="3800634" y="0"/>
                </a:lnTo>
                <a:lnTo>
                  <a:pt x="3800634" y="2079983"/>
                </a:lnTo>
                <a:lnTo>
                  <a:pt x="0" y="207998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10" id="10"/>
          <p:cNvSpPr txBox="true"/>
          <p:nvPr/>
        </p:nvSpPr>
        <p:spPr>
          <a:xfrm rot="0">
            <a:off x="5286081" y="4007764"/>
            <a:ext cx="7715839" cy="2709621"/>
          </a:xfrm>
          <a:prstGeom prst="rect">
            <a:avLst/>
          </a:prstGeom>
        </p:spPr>
        <p:txBody>
          <a:bodyPr anchor="t" rtlCol="false" tIns="0" lIns="0" bIns="0" rIns="0">
            <a:spAutoFit/>
          </a:bodyPr>
          <a:lstStyle/>
          <a:p>
            <a:pPr algn="ctr">
              <a:lnSpc>
                <a:spcPts val="10174"/>
              </a:lnSpc>
            </a:pPr>
            <a:r>
              <a:rPr lang="en-US" sz="12258" b="true">
                <a:solidFill>
                  <a:srgbClr val="001E3A"/>
                </a:solidFill>
                <a:latin typeface="Garet Ultra-Bold"/>
                <a:ea typeface="Garet Ultra-Bold"/>
                <a:cs typeface="Garet Ultra-Bold"/>
                <a:sym typeface="Garet Ultra-Bold"/>
              </a:rPr>
              <a:t>Thank</a:t>
            </a:r>
          </a:p>
          <a:p>
            <a:pPr algn="ctr">
              <a:lnSpc>
                <a:spcPts val="10174"/>
              </a:lnSpc>
            </a:pPr>
            <a:r>
              <a:rPr lang="en-US" sz="12258" b="true">
                <a:solidFill>
                  <a:srgbClr val="001E3A"/>
                </a:solidFill>
                <a:latin typeface="Garet Ultra-Bold"/>
                <a:ea typeface="Garet Ultra-Bold"/>
                <a:cs typeface="Garet Ultra-Bold"/>
                <a:sym typeface="Garet Ultra-Bold"/>
              </a:rPr>
              <a:t>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DAG9vD_g5R0</dc:identifier>
  <dcterms:modified xsi:type="dcterms:W3CDTF">2011-08-01T06:04:30Z</dcterms:modified>
  <cp:revision>1</cp:revision>
  <dc:title>Colorful and White Modern Timeline Presentation</dc:title>
</cp:coreProperties>
</file>